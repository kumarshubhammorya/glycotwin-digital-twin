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GlycoTwin architecture: simulate, train, evaluate, serve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Boxes are files in the repository; arrows show data flow. White = script, tinted = data or model file, navy = clinician. Slide 2: care pathway.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11640312" cy="256032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txBody>
          <a:bodyPr rtlCol="0" anchor="t" wrap="square" lIns="128016" rIns="128016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766E"/>
                </a:solidFill>
                <a:latin typeface="Calibri"/>
              </a:rPr>
              <a:t>1  OFFLINE: SIMULATE, TRAIN, EVALUATE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931920"/>
            <a:ext cx="11640312" cy="256032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txBody>
          <a:bodyPr rtlCol="0" anchor="t" wrap="square" lIns="128016" rIns="128016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766E"/>
                </a:solidFill>
                <a:latin typeface="Calibri"/>
              </a:rPr>
              <a:t>2  SERVING: TWO INFERENCE PATHS, DOCTOR IN THE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23643"/>
            <a:ext cx="160020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generate_​datasets.py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data/ · seeded simulator, illustrative parameters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40864" y="1417320"/>
            <a:ext cx="2148840" cy="914399"/>
          </a:xfrm>
          <a:prstGeom prst="roundRect">
            <a:avLst>
              <a:gd name="adj" fmla="val 7000"/>
            </a:avLst>
          </a:prstGeom>
          <a:solidFill>
            <a:srgbClr val="E6F4F1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synthetic_​ehr.csv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200 personas: labs, meds, history, TCF7L2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0864" y="2670048"/>
            <a:ext cx="2148840" cy="914400"/>
          </a:xfrm>
          <a:prstGeom prst="roundRect">
            <a:avLst>
              <a:gd name="adj" fmla="val 7000"/>
            </a:avLst>
          </a:prstGeom>
          <a:solidFill>
            <a:srgbClr val="E6F4F1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synthetic_​wearables.csv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132,800 windows of 15 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8888" y="1417320"/>
            <a:ext cx="2697480" cy="21671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train_​fusion_​model.py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34 features: 18 wearable + 16 EHR, EHR joined to every window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patient split 150 / 50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HGB classifier + regressor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alert thresholds 0.51 / 0.52 by F2 on grouped CV of training patients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1417320"/>
            <a:ext cx="1783080" cy="2167128"/>
          </a:xfrm>
          <a:prstGeom prst="roundRect">
            <a:avLst>
              <a:gd name="adj" fmla="val 7000"/>
            </a:avLst>
          </a:prstGeom>
          <a:solidFill>
            <a:srgbClr val="E6F4F1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glycotwin_​model.joblib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classifier, regressor, thresholds, feature list, category levels, split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7815" y="1417320"/>
            <a:ext cx="1819656" cy="960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evaluate.py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held-out, CV, baselines, ablation, 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57815" y="2670048"/>
            <a:ext cx="1819656" cy="914400"/>
          </a:xfrm>
          <a:prstGeom prst="roundRect">
            <a:avLst>
              <a:gd name="adj" fmla="val 7000"/>
            </a:avLst>
          </a:prstGeom>
          <a:solidFill>
            <a:srgbClr val="E6F4F1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metrics.json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the only source of performance numbers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11680" y="2500884"/>
            <a:ext cx="164592" cy="0"/>
          </a:xfrm>
          <a:prstGeom prst="line">
            <a:avLst/>
          </a:prstGeom>
          <a:ln w="22225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176272" y="1874519"/>
            <a:ext cx="0" cy="1252729"/>
          </a:xfrm>
          <a:prstGeom prst="line">
            <a:avLst/>
          </a:prstGeom>
          <a:ln w="22225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176272" y="1874519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176272" y="3127248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489704" y="1874519"/>
            <a:ext cx="329184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9704" y="3127248"/>
            <a:ext cx="329184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516368" y="2500884"/>
            <a:ext cx="329184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628632" y="1897380"/>
            <a:ext cx="329183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867644" y="2377440"/>
            <a:ext cx="0" cy="29260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4270248"/>
            <a:ext cx="2743200" cy="2112264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Doctor in the loop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E2E8F0"/>
                </a:solidFill>
                <a:latin typeface="Calibri"/>
              </a:rPr>
              <a:t>Diabetologist or diabetes educator reviews the risk board, alerts and model card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E2E8F0"/>
                </a:solidFill>
                <a:latin typeface="Calibri"/>
              </a:rPr>
              <a:t>Decides the outreach: a call, a medication review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E2E8F0"/>
                </a:solidFill>
                <a:latin typeface="Calibri"/>
              </a:rPr>
              <a:t>Decision support only; no automated dosing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4270248"/>
            <a:ext cx="3520440" cy="10058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F172A"/>
            </a:solidFill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(a) dashboard/app.py · Streamlit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live inference on the selected window (about 15 ms on CPU); Data Ingest runs 5 checks on uploads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4270248"/>
            <a:ext cx="4370832" cy="10058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F172A"/>
            </a:solidFill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(b) build_​standalone_​dashboard.py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scores the demo patients in Python at build time and embeds the outputs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5486400"/>
            <a:ext cx="4370832" cy="896112"/>
          </a:xfrm>
          <a:prstGeom prst="roundRect">
            <a:avLst>
              <a:gd name="adj" fmla="val 7000"/>
            </a:avLst>
          </a:prstGeom>
          <a:solidFill>
            <a:srgbClr val="E6F4F1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dashboard/index.html + plotly.min.js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static replay page; no model runs in the browser; uploads get the 5 ingest checks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0440" y="5486400"/>
            <a:ext cx="3520440" cy="896112"/>
          </a:xfrm>
          <a:prstGeom prst="roundRect">
            <a:avLst>
              <a:gd name="adj" fmla="val 7000"/>
            </a:avLst>
          </a:prstGeom>
          <a:solidFill>
            <a:srgbClr val="E6F4F1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public/ on Firebase Hosting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glycotwin-app.web.app, opens on a laptop or a phone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37092" y="3584448"/>
            <a:ext cx="0" cy="210312"/>
          </a:xfrm>
          <a:prstGeom prst="line">
            <a:avLst/>
          </a:prstGeom>
          <a:ln w="22225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867644" y="3584448"/>
            <a:ext cx="0" cy="210312"/>
          </a:xfrm>
          <a:prstGeom prst="line">
            <a:avLst/>
          </a:prstGeom>
          <a:ln w="22225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280660" y="3794760"/>
            <a:ext cx="5586984" cy="0"/>
          </a:xfrm>
          <a:prstGeom prst="line">
            <a:avLst/>
          </a:prstGeom>
          <a:ln w="22225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80660" y="3794760"/>
            <a:ext cx="0" cy="47548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592056" y="3794760"/>
            <a:ext cx="0" cy="47548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446020" y="3639312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bundle + metrics.json →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2056" y="5276088"/>
            <a:ext cx="0" cy="21031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040880" y="5934456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3154680" y="5934456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3154680" y="477316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Synthetic data only · research prototype, not a medical device · not for dosing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Calibri"/>
              </a:rPr>
              <a:t>GlycoTwin in the care pathway: from device data to clinician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Conceptual view of slide 1. Solid boxes run in this prototype today, on synthetic data; dashed boxes are roadmap, not built; navy boxes are people.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2532888" cy="91439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dash"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64748B"/>
                </a:solidFill>
                <a:latin typeface="Calibri"/>
              </a:rPr>
              <a:t>Roadmap: vendor exports, APIs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LibreView, Dexcom, Health Connect, HealthKit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5848" y="1188720"/>
            <a:ext cx="2532888" cy="91439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dash"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64748B"/>
                </a:solidFill>
                <a:latin typeface="Calibri"/>
              </a:rPr>
              <a:t>Roadmap: HL7 FHIR EHR feed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Patient, Observation, MedicationStatement, Condition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216" y="1188720"/>
            <a:ext cx="2532888" cy="914399"/>
          </a:xfrm>
          <a:prstGeom prst="roundRect">
            <a:avLst>
              <a:gd name="adj" fmla="val 7000"/>
            </a:avLst>
          </a:prstGeom>
          <a:solidFill>
            <a:srgbClr val="E6F4F1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EHR record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labs, medication, history, TCF7L2; today synthetic_​ehr.csv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514600"/>
            <a:ext cx="2532888" cy="1645919"/>
          </a:xfrm>
          <a:prstGeom prst="roundRect">
            <a:avLst>
              <a:gd name="adj" fmla="val 7000"/>
            </a:avLst>
          </a:prstGeom>
          <a:solidFill>
            <a:srgbClr val="E6F4F1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CGM and wearable data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172A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glucose, heart rate, HRV, steps, sleep stage, carbs, insulin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172A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today synthetic_​wearables.csv or an uploaded CSV / 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2514600"/>
            <a:ext cx="2532888" cy="16459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F172A"/>
            </a:solidFill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Data Ingest: 5 checks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172A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schema · continuity · physiological bounds · rate of change · missingness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172A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in both dashboards; Streamlit also scores a full-schema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0216" y="2514600"/>
            <a:ext cx="2532888" cy="16459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Feature fusion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EHR joined to every 15-min window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34 features = 18 wearable + 16 EHR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current and past data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44584" y="2514600"/>
            <a:ext cx="2532888" cy="16459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Twin models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classifier: any reading &lt;70 or &gt;250 mg/dL in the next 2 h?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regressor: glucose at +2 h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766E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uncalibrated risk scores vs fixed thresholds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44584" y="4572000"/>
            <a:ext cx="2532888" cy="16459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F172A"/>
            </a:solidFill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Risk board and alerts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172A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patients ranked by risk score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0F172A"/>
              </a:buClr>
              <a:buFont typeface="Arial"/>
              <a:buChar char="•"/>
            </a:pPr>
            <a:r>
              <a:rPr sz="1400" b="0" i="0">
                <a:solidFill>
                  <a:srgbClr val="334155"/>
                </a:solidFill>
                <a:latin typeface="Calibri"/>
              </a:rPr>
              <a:t>Live Monitor: last 8 h of CGM, the +2 h forecast and the 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4572000"/>
            <a:ext cx="2532888" cy="1645919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Clinician review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E2E8F0"/>
                </a:solidFill>
                <a:latin typeface="Calibri"/>
              </a:rPr>
              <a:t>diabetologist or diabetes educator decides whether and how to act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E2E8F0"/>
                </a:solidFill>
                <a:latin typeface="Calibri"/>
              </a:rPr>
              <a:t>decision support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4572000"/>
            <a:ext cx="2532888" cy="1645919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Outreach by the care team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E2E8F0"/>
                </a:solidFill>
                <a:latin typeface="Calibri"/>
              </a:rPr>
              <a:t>a call or a medication-timing review; predicted low: consider a snack</a:t>
            </a:r>
          </a:p>
          <a:p>
            <a:pPr algn="l" marL="146304" indent="-146304">
              <a:lnSpc>
                <a:spcPct val="95000"/>
              </a:lnSpc>
              <a:spcAft>
                <a:spcPts val="2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E2E8F0"/>
                </a:solidFill>
                <a:latin typeface="Calibri"/>
              </a:rPr>
              <a:t>no insulin dose advice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572000"/>
            <a:ext cx="2532888" cy="1645919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txBody>
          <a:bodyPr rtlCol="0" anchor="ctr" wrap="square">
            <a:no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Patient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400" b="0" i="0">
                <a:solidFill>
                  <a:srgbClr val="E2E8F0"/>
                </a:solidFill>
                <a:latin typeface="Calibri"/>
              </a:rPr>
              <a:t>keeps wearing the CGM and wearable; new readings every 15 min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77924" y="2103120"/>
            <a:ext cx="0" cy="411480"/>
          </a:xfrm>
          <a:prstGeom prst="line">
            <a:avLst/>
          </a:prstGeom>
          <a:ln w="19050">
            <a:solidFill>
              <a:srgbClr val="64748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88736" y="1645919"/>
            <a:ext cx="411480" cy="0"/>
          </a:xfrm>
          <a:prstGeom prst="line">
            <a:avLst/>
          </a:prstGeom>
          <a:ln w="19050">
            <a:solidFill>
              <a:srgbClr val="64748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66660" y="2103120"/>
            <a:ext cx="0" cy="41148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944368" y="3337560"/>
            <a:ext cx="4114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88736" y="3337560"/>
            <a:ext cx="4114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3104" y="3337560"/>
            <a:ext cx="4114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511028" y="4160520"/>
            <a:ext cx="0" cy="41148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8833104" y="5394960"/>
            <a:ext cx="4114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888736" y="5394960"/>
            <a:ext cx="4114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944368" y="5394960"/>
            <a:ext cx="4114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677924" y="4160520"/>
            <a:ext cx="0" cy="411480"/>
          </a:xfrm>
          <a:prstGeom prst="line">
            <a:avLst/>
          </a:prstGeom>
          <a:ln w="2540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336024" y="1207008"/>
            <a:ext cx="384048" cy="21945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F172A"/>
            </a:solidFill>
          </a:ln>
          <a:effectLst/>
        </p:spPr>
        <p:txBody>
          <a:bodyPr rtlCol="0" anchor="t" wrap="square" lIns="128016" rIns="128016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8944" y="1170432"/>
            <a:ext cx="193852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runs in this prototype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6024" y="1508760"/>
            <a:ext cx="384048" cy="21945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dash"/>
          </a:ln>
          <a:effectLst/>
        </p:spPr>
        <p:txBody>
          <a:bodyPr rtlCol="0" anchor="t" wrap="square" lIns="128016" rIns="128016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472184"/>
            <a:ext cx="193852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roadmap, not built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36024" y="1810512"/>
            <a:ext cx="384048" cy="219456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>
            <a:noFill/>
          </a:ln>
          <a:effectLst/>
        </p:spPr>
        <p:txBody>
          <a:bodyPr rtlCol="0" anchor="t" wrap="square" lIns="128016" rIns="128016">
            <a:no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38944" y="1773936"/>
            <a:ext cx="193852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people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Synthetic data only · research prototype, not a medical device · not for dosing decisions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