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GLYCOTWIN SYSTEM ARCHITECTURE · TEAM CLASSY LEOPARDS (GOA INSTITUTE OF MANAGEMENT, SANQUELIM)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Multimodal Data Ingestion, Time-Series Fusion, AI Scoring &amp; Clinical Decision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51460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514600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224028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Layer 1: Multimodal Data Ingestion</a:t>
            </a:r>
          </a:p>
          <a:p>
            <a:pPr>
              <a:spcAft>
                <a:spcPts val="1000"/>
              </a:spcAft>
              <a:defRPr sz="900" b="1">
                <a:solidFill>
                  <a:srgbClr val="0D9488"/>
                </a:solidFill>
              </a:defRPr>
            </a:pPr>
            <a:r>
              <a:t>STATIC CLINICAL EHR + DYNAMIC SENSOR IOT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Static EHR: Demographics, Age, Gender, South-Asian BMI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Baseline Biomarkers: HbA1c (5.7-12.5%), eGFR, Fasting Glucose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Pharmacotherapy: Metformin, Sulfonylureas, SGLT2i, Insulin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Dynamic CGM: Continuous Glucose (15-min Telemetry)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Photoplethysmography: Heart Rate (BPM), HRV (ms)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Inertial Sensors: 15-min Steps, Sleep Stage (Awake/Sleep)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371600"/>
            <a:ext cx="251460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0" y="1371600"/>
            <a:ext cx="2514600" cy="914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600200"/>
            <a:ext cx="224028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Layer 2: Time-Series Feature Fusion</a:t>
            </a:r>
          </a:p>
          <a:p>
            <a:pPr>
              <a:spcAft>
                <a:spcPts val="1000"/>
              </a:spcAft>
              <a:defRPr sz="900" b="1">
                <a:solidFill>
                  <a:srgbClr val="0284C7"/>
                </a:solidFill>
              </a:defRPr>
            </a:pPr>
            <a:r>
              <a:t>MATHEMATICAL FEATURE ENGINEERING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Rolling Derivatives: Glucose Velocity dG/dt (15m, 30m)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Glycemic Volatility: 1-hour Rolling Standard Deviation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Exertion Accumulator: 1h &amp; 2h Step Integration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Nutritional Absorption: 2h Carbohydrate Load (g)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Pharmacodynamics: 2h Bolus Insulin Integration (U)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Synchronous Fusion Engine: Aligned on Patient ID &amp; Window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251460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2514600" cy="91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600200"/>
            <a:ext cx="224028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Layer 3: Predictive AI Core</a:t>
            </a:r>
          </a:p>
          <a:p>
            <a:pPr>
              <a:spcAft>
                <a:spcPts val="1000"/>
              </a:spcAft>
              <a:defRPr sz="900" b="1">
                <a:solidFill>
                  <a:srgbClr val="8B5CF6"/>
                </a:solidFill>
              </a:defRPr>
            </a:pPr>
            <a:r>
              <a:t>SCIKIT-LEARN HISTGRADIENTBOOSTING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Adverse Event Classifier: 2h Impending Hypo/Hyper Risk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Trajectory Regressor: Exact Projected Glucose (mg/dL)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Cost-Sensitive Weighting: Zero Missed Hypoglycemia Nadirs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Native Missing-Value Routing: Zero Imputation Bias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Model Calibration: Predicts True Probabilities (%)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Sub-5ms Inference: Client-side Edge Execution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371600"/>
            <a:ext cx="251460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61120" y="1371600"/>
            <a:ext cx="251460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1600200"/>
            <a:ext cx="224028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Layer 4: Clinical Interface &amp; Decision</a:t>
            </a:r>
          </a:p>
          <a:p>
            <a:pPr>
              <a:spcAft>
                <a:spcPts val="1000"/>
              </a:spcAft>
              <a:defRPr sz="900" b="1">
                <a:solidFill>
                  <a:srgbClr val="10B981"/>
                </a:solidFill>
              </a:defRPr>
            </a:pPr>
            <a:r>
              <a:t>ACTIONABLE INTERVENTION SUITE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Early Warning Horizon: 120-Minute Alert Notification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Actionable Protocols: 15–20g Fast-Acting Carb Rescue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What-If Counterfactual Sandbox: Virtual Nutrition &amp; Insulin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5-Step Ingestion Audit: Schema, Continuity, Range Validation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Cohort Stratification: ADA 7.0% Target &amp; High-Risk Triage</a:t>
            </a:r>
          </a:p>
          <a:p>
            <a:pPr>
              <a:spcAft>
                <a:spcPts val="500"/>
              </a:spcAft>
              <a:defRPr sz="1000">
                <a:solidFill>
                  <a:srgbClr val="334155"/>
                </a:solidFill>
              </a:defRPr>
            </a:pPr>
            <a:r>
              <a:t>• Live Web Deployment: Globally Cached at glycotwin-app.web.app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