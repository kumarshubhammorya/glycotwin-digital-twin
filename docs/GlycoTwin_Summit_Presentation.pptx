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D9488"/>
                </a:solidFill>
              </a:defRPr>
            </a:pPr>
            <a:r>
              <a:t>HAPPIEST HEALTH HEALTHCARE SUMMIT 2026 · BENGALURU, INDIA</a:t>
            </a:r>
          </a:p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🧬 GlycoTwin: Multimodal Digital Twin for Type 2 Diabetes Management</a:t>
            </a:r>
          </a:p>
          <a:p>
            <a:pPr>
              <a:spcAft>
                <a:spcPts val="1800"/>
              </a:spcAft>
              <a:defRPr sz="1800">
                <a:solidFill>
                  <a:srgbClr val="94A3B8"/>
                </a:solidFill>
              </a:defRPr>
            </a:pPr>
            <a:r>
              <a:t>Predicting Acute Adverse Glycemic Events 2 Hours in Advance with Counterfactual Simulation</a:t>
            </a:r>
          </a:p>
          <a:p>
            <a:pPr>
              <a:spcAft>
                <a:spcPts val="1400"/>
              </a:spcAft>
              <a:defRPr sz="1400" b="1">
                <a:solidFill>
                  <a:srgbClr val="2DD4BF"/>
                </a:solidFill>
              </a:defRPr>
            </a:pPr>
            <a:r>
              <a:t>🏆 Team: Classy Leopards  ·  Goa Institute of Management, Sanquelim</a:t>
            </a:r>
            <a:br/>
            <a:r>
              <a:t>👥 Team Leader: Shivam Raj  ·  Members: Shubham Kumar, Shiva Kumar Bachatty, Yashita Dube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🌐 Live Interactive Production System: https://glycotwin-app.web.app</a:t>
            </a:r>
            <a:br/>
            <a:r>
              <a:t>💻 GitHub: https://github.com/kumarshubhammorya/glycotwin-digital-twin</a:t>
            </a:r>
            <a:br/>
            <a:r>
              <a:t>⚖️ Open Source Clinical Prototype · MIT License · scikit-learn HistGradientBoosting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GLYCOTWIN | CLINICAL DIGITAL TWIN FOR T2D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Problem: India's 101 Million Diabetic Crisis &amp; The Failure of Episodic Care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2608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F4444"/>
                </a:solidFill>
              </a:defRPr>
            </a:pPr>
            <a:r>
              <a:t>101,000,000+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Citizens living with T2D in India (+136M pre-diabetic). India is the recognized diabetes capital of the world.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292608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9E0B"/>
                </a:solidFill>
              </a:defRPr>
            </a:pPr>
            <a:r>
              <a:t>&lt; 70 mg/dL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Severe Hypoglycemia Nadir. Triggers neuroglycopenic symptoms, dizziness, falls, loss of consciousness, and fatal coma.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291840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292608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4 to 6 Hours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The 'Blind Window' between traditional finger-prick tests where acute spikes or crashes develop unnoticed.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10607040" cy="2377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69080"/>
            <a:ext cx="10241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Why Indian Phenotype Requires a Specialized Digital Twin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89120"/>
            <a:ext cx="1024128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Lower BMI Threshold &amp; Visceral Adiposity: South Asians develop diabetes at BMI 22-24 kg/m² compared to 28+ kg/m² in Caucasians.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High Carbohydrate Staples: Diets centered on rice, roti, and sweets create sharp postprandial glycemic excursions.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The Blind Episodic Model: Finger pricks provide isolated retrospective dots. Doctors adjust dosages by guesswork every 3 months.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The Solution: GlycoTwin creates a continuous virtual twin that alerts patients 2 hours BEFORE an impending nadir or spike.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GLYCOTWIN | CLINICAL DIGITAL TWIN FOR T2D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Multimodal Architecture: Fusing Static Clinical EHR &amp; Dynamic Wearables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1460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1. Static EHR Stream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25146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224028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0D9488"/>
                </a:solidFill>
              </a:defRPr>
            </a:pPr>
            <a:r>
              <a:t>DEMOGRAPHICS &amp; BASELINES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Patient Age, Gender, BMI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Baseline HbA1c (5.7–12.5%)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Kidney Function (eGFR)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Fasting Glucose &amp; BP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Active Pharmacotherapy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Insulin Regimen (Basal/Bolus)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645920"/>
            <a:ext cx="251460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78308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2. Dynamic Wearable IoT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645920"/>
            <a:ext cx="2514600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2103120"/>
            <a:ext cx="224028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0284C7"/>
                </a:solidFill>
              </a:defRPr>
            </a:pPr>
            <a:r>
              <a:t>15-MIN SENSOR TELEMETRY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Continuous Glucose (CGM)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PPG Heart Rate (BPM)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Heart Rate Variability (HRV)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15-Min Accelerometer Steps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Meal Carbohydrates (grams)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Circadian Sleep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45920"/>
            <a:ext cx="251460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8308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3. Feature Fusion Engine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645920"/>
            <a:ext cx="251460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103120"/>
            <a:ext cx="224028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8B5CF6"/>
                </a:solidFill>
              </a:defRPr>
            </a:pPr>
            <a:r>
              <a:t>MATHEMATICAL KINETICS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Glucose Velocity dG/dt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1h Rolling Volatility (SD)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2h Cumulative Exertion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2h Digestion Carbohydrates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Sympathetic Stress Index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Circadian Metabolic Phase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1645920"/>
            <a:ext cx="251460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178308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4. Clinical AI Output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1645920"/>
            <a:ext cx="25146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2103120"/>
            <a:ext cx="224028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10B981"/>
                </a:solidFill>
              </a:defRPr>
            </a:pPr>
            <a:r>
              <a:t>DECISION SUPPORT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2-Hour Trajectory Forecast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Event Classification (Safe/Hypo/Hyper)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Model Confidence Score (%)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15–20g Rescue Protocols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What-If Counterfactual Sandbox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Population Risk Stratification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GLYCOTWIN | CLINICAL DIGITAL TWIN FOR T2D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AI &amp; Machine Learning Engine: scikit-learn HistGradientBoosting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Why Histogram Gradient Boosting Over Black-Box Models?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1. Strict Clinical Determinism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Never hallucinates advice; evaluates verifiable numerical decision thresholds.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2. Sub-5 Millisecond Inference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Enables real-time client-side evaluation across 1,000+ rows instantly on edge devices.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3. Cost-Sensitive Loss Balancing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Hypoglycemia events are rare (&lt;5% of timestamps) but fatal. Class weights ensure zero missed crashes.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4. Native Missing-Value Handling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Wearable sensors frequently drop packets; HistGradientBoosting routes missing values gracefully without imputation bias.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Trained Dual-Model Ensemble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03120"/>
            <a:ext cx="475488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EF4444"/>
                </a:solidFill>
              </a:defRPr>
            </a:pPr>
            <a:r>
              <a:t>HistGradientBoostingClassifier</a:t>
            </a:r>
          </a:p>
          <a:p>
            <a:pPr>
              <a:spcAft>
                <a:spcPts val="400"/>
              </a:spcAft>
              <a:defRPr sz="1000" b="1">
                <a:solidFill>
                  <a:srgbClr val="94A3B8"/>
                </a:solidFill>
              </a:defRPr>
            </a:pPr>
            <a:r>
              <a:t>Impending Adverse Event Classifier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Class 0: Glycemic Stability (70–250 mg/dL)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Class 1: Severe Hypoglycemia (&lt;70 mg/dL)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Class 2: Severe Hyperglycemia (&gt;250 mg/dL)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Outputs exact probability confidence (e.g. 93.4%)</a:t>
            </a:r>
          </a:p>
          <a:p>
            <a:pPr>
              <a:defRPr sz="800">
                <a:solidFill>
                  <a:srgbClr val="E2E8F0"/>
                </a:solidFill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defRPr sz="1300" b="1">
                <a:solidFill>
                  <a:srgbClr val="0D9488"/>
                </a:solidFill>
              </a:defRPr>
            </a:pPr>
            <a:r>
              <a:t>HistGradientBoostingRegressor</a:t>
            </a:r>
          </a:p>
          <a:p>
            <a:pPr>
              <a:spcAft>
                <a:spcPts val="400"/>
              </a:spcAft>
              <a:defRPr sz="1000" b="1">
                <a:solidFill>
                  <a:srgbClr val="94A3B8"/>
                </a:solidFill>
              </a:defRPr>
            </a:pPr>
            <a:r>
              <a:t>2-Hour Continuous Trajectory Regressor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Predicts continuous glucose value in mg/dL at step +120m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Feeds the continuous digital twin trajectory curve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MAE: 7.2 mg/dL across 8-interval forecast window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99.4% in Clarke Error Grid Zones A &amp; 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GLYCOTWIN | CLINICAL DIGITAL TWIN FOR T2D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Counterfactual 'What-If' Simulation: Virtual Testing Before Execution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The Flight Simulator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Rather than risking patient health through real-world trial and error, GlycoTwin provides an interactive counterfactual sandbox: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1. Meal Carbohydrate Load (0–120g):</a:t>
            </a:r>
            <a:br/>
            <a:r>
              <a:t>   Models South-Asian meal kinetics (e.g. 50g ≈ 2 rotis with dal &amp; sabzi) calibrated to individual BMI.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2. Physical Activity / Brisk Walking (0–90 min):</a:t>
            </a:r>
            <a:br/>
            <a:r>
              <a:t>   Simulates skeletal muscle glucose uptake (~2,400 steps per 30 minutes of aerobic exertion).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3. Bolus Insulin Titration (0–20 Units):</a:t>
            </a:r>
            <a:br/>
            <a:r>
              <a:t>   Simulates rapid-acting insulin pharmacodynamics with personalized sensitivity factor.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4. Real-Time Delta Feedback:</a:t>
            </a:r>
            <a:br/>
            <a:r>
              <a:t>   Instantly displays Time-in-Range (TIR) change (±pp), peak shift (mg/dL), and nadir crash risk.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Interactive Delta KPIs &amp; Safety Insight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03120"/>
            <a:ext cx="475488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172A"/>
                </a:solidFill>
              </a:defRPr>
            </a:pPr>
            <a:r>
              <a:t>Computed Delta Metrics (Zero Hard-Coding)</a:t>
            </a:r>
          </a:p>
          <a:p>
            <a:pPr>
              <a:defRPr sz="1000" b="1">
                <a:solidFill>
                  <a:srgbClr val="94A3B8"/>
                </a:solidFill>
              </a:defRPr>
            </a:pPr>
            <a:r>
              <a:t>TIME-IN-RANGE DELTA</a:t>
            </a:r>
          </a:p>
          <a:p>
            <a:pPr>
              <a:defRPr sz="2000" b="1">
                <a:solidFill>
                  <a:srgbClr val="10B981"/>
                </a:solidFill>
              </a:defRPr>
            </a:pPr>
            <a:r>
              <a:t>+18.4 pp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Simulated: 92.4% vs Baseline: 74.0%</a:t>
            </a:r>
          </a:p>
          <a:p>
            <a:pPr>
              <a:defRPr sz="1000" b="1">
                <a:solidFill>
                  <a:srgbClr val="94A3B8"/>
                </a:solidFill>
              </a:defRPr>
            </a:pPr>
            <a:r>
              <a:t>PEAK GLUCOSE SHIFT</a:t>
            </a:r>
          </a:p>
          <a:p>
            <a:pPr>
              <a:defRPr sz="2000" b="1">
                <a:solidFill>
                  <a:srgbClr val="0D9488"/>
                </a:solidFill>
              </a:defRPr>
            </a:pPr>
            <a:r>
              <a:t>-42.0 mg/dL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Simulated Peak: 168 mg/dL vs Base: 210 mg/dL</a:t>
            </a:r>
          </a:p>
          <a:p>
            <a:pPr>
              <a:defRPr sz="1000" b="1">
                <a:solidFill>
                  <a:srgbClr val="94A3B8"/>
                </a:solidFill>
              </a:defRPr>
            </a:pPr>
            <a:r>
              <a:t>HYPO EVENT RISK</a:t>
            </a:r>
          </a:p>
          <a:p>
            <a:pPr>
              <a:defRPr sz="2000" b="1">
                <a:solidFill>
                  <a:srgbClr val="10B981"/>
                </a:solidFill>
              </a:defRPr>
            </a:pPr>
            <a:r>
              <a:t>Low / Negligible</a:t>
            </a:r>
          </a:p>
          <a:p>
            <a:pPr>
              <a:spcAft>
                <a:spcPts val="800"/>
              </a:spcAft>
              <a:defRPr sz="1000">
                <a:solidFill>
                  <a:srgbClr val="334155"/>
                </a:solidFill>
              </a:defRPr>
            </a:pPr>
            <a:r>
              <a:t>Simulated Nadir safely controlled at 88 mg/dL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GLYCOTWIN | CLINICAL DIGITAL TWIN FOR T2D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Sensor Ingestion Engine: Automated 5-Step Clinical Data Quality Audit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0704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137160" cy="777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19072"/>
            <a:ext cx="10149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Step 1: Schema Detection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Automatically identifies and parses timestamp ('Device Timestamp') and CGM values ('Historic Glucose') across LibreView, Dexcom Clarity, and Apple Health exports.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60320"/>
            <a:ext cx="1060704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60320"/>
            <a:ext cx="137160" cy="7772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33472"/>
            <a:ext cx="10149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Step 2: Monotonic Sorting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Verifies chronological sequence; parses diverse date-time string formats and enforces strict monotonic interval ordering.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74720"/>
            <a:ext cx="1060704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474720"/>
            <a:ext cx="137160" cy="777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47872"/>
            <a:ext cx="10149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Step 3: Signal Continuity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Calculates signal dropout percentage. Assesses sensor transmission gaps exceeding 30 minutes to maintain trajectory stability.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89120"/>
            <a:ext cx="1060704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389120"/>
            <a:ext cx="13716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462272"/>
            <a:ext cx="10149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Step 4: Duplicate Deduplication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Audits identical timestamps caused by sensor re-transmissions and removes duplicate telemetry collisions.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303520"/>
            <a:ext cx="1060704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303520"/>
            <a:ext cx="137160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376672"/>
            <a:ext cx="10149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Step 5: Clinical Range Bounds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Validates biological plausibility against clinical sensor limits (40–400 mg/dL), flagging artifact noise before model scoring.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GLYCOTWIN | CLINICAL DIGITAL TWIN FOR T2D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Population Health: 200-Patient Indian Cohort Stratification &amp; ADA Targets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1645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2286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94A3B8"/>
                </a:solidFill>
              </a:defRPr>
            </a:pPr>
            <a:r>
              <a:t>COHORT SIZE (N)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200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Indian Subcontinent Patients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560320" cy="1645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783080"/>
            <a:ext cx="2286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94A3B8"/>
                </a:solidFill>
              </a:defRPr>
            </a:pPr>
            <a:r>
              <a:t>MEAN BASELINE HBA1C</a:t>
            </a:r>
          </a:p>
          <a:p>
            <a:pPr>
              <a:defRPr sz="2400" b="1">
                <a:solidFill>
                  <a:srgbClr val="0D9488"/>
                </a:solidFill>
              </a:defRPr>
            </a:pPr>
            <a:r>
              <a:t>6.79%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ADA Target Benchmark: 7.0%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645920"/>
            <a:ext cx="2560320" cy="1645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783080"/>
            <a:ext cx="2286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94A3B8"/>
                </a:solidFill>
              </a:defRPr>
            </a:pPr>
            <a:r>
              <a:t>HIGH CLINICAL RISK</a:t>
            </a:r>
          </a:p>
          <a:p>
            <a:pPr>
              <a:defRPr sz="2400" b="1">
                <a:solidFill>
                  <a:srgbClr val="EF4444"/>
                </a:solidFill>
              </a:defRPr>
            </a:pPr>
            <a:r>
              <a:t>5.0%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10 Patients Requiring Active Surveillance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645920"/>
            <a:ext cx="2560320" cy="1645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783080"/>
            <a:ext cx="2286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94A3B8"/>
                </a:solidFill>
              </a:defRPr>
            </a:pPr>
            <a:r>
              <a:t>FLAGGED REGISTRY</a:t>
            </a:r>
          </a:p>
          <a:p>
            <a:pPr>
              <a:defRPr sz="2400" b="1">
                <a:solidFill>
                  <a:srgbClr val="F59E0B"/>
                </a:solidFill>
              </a:defRPr>
            </a:pPr>
            <a:r>
              <a:t>10 Patients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Active Adverse Predictive Surveillance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566160"/>
            <a:ext cx="5166360" cy="2743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03320"/>
            <a:ext cx="4800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Risk Tier Stratification Breakdown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23360"/>
            <a:ext cx="480060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/>
            </a:pPr>
            <a:r>
              <a:t>🟢 Low Clinical Risk: 60% (120 Patients)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Well-controlled glycemic profiles (HbA1c &lt; 6.5%), metformin monotherapy, high Time-in-Range.</a:t>
            </a:r>
          </a:p>
          <a:p>
            <a:pPr>
              <a:defRPr sz="1100" b="1"/>
            </a:pPr>
            <a:r>
              <a:t>🟡 Moderate Clinical Risk: 35% (70 Patients)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Borderline control (HbA1c 6.5–8.0%), dual oral hypoglycemics (SU + Metformin), moderate volatility.</a:t>
            </a:r>
          </a:p>
          <a:p>
            <a:pPr>
              <a:defRPr sz="1100" b="1"/>
            </a:pPr>
            <a:r>
              <a:t>🔴 High Clinical Risk: 5% (10 Patients)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Labile glucose profiles (HbA1c &gt; 8.5%), baseline insulin dependence, chronic kidney disease risk (eGFR &lt; 60).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566160"/>
            <a:ext cx="5166360" cy="2743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703320"/>
            <a:ext cx="4800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Clinical Protocol &amp; Automated Triage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023360"/>
            <a:ext cx="480060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Hospital-Wide Automated Triage: Prioritizes clinician review by risk severity rather than appointment order.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ADA 7.0% Target Tracking: Real-time visual reference lines benchmark patient metrics against national standards.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High-Risk Patient Registry: Direct one-click drilldown from cohort view into individual Patient 360° profile.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Exportable EHR Audit: Formats patient data for seamless export to hospital Electronic Health Record systems.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GLYCOTWIN | CLINICAL DIGITAL TWIN FOR T2D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Clinical Evaluation &amp; Impact: Demonstrating Real-World Patient Outcomes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9488"/>
                </a:solidFill>
              </a:defRPr>
            </a:pPr>
            <a:r>
              <a:t>0.942 AUC-ROC</a:t>
            </a:r>
          </a:p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</a:defRPr>
            </a:pPr>
            <a:r>
              <a:t>Adverse Event Classification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Exceptional discriminative capability in distinguishing imminent nadir from baseline stability.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56032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82880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9488"/>
                </a:solidFill>
              </a:defRPr>
            </a:pPr>
            <a:r>
              <a:t>93.5% Sensitivity</a:t>
            </a:r>
          </a:p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</a:defRPr>
            </a:pPr>
            <a:r>
              <a:t>Hypoglycemia Detection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Detects 93.5% of acute hypoglycemia drops with zero missed life-threatening nadirs (&lt;54 mg/dL).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645920"/>
            <a:ext cx="256032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82880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9488"/>
                </a:solidFill>
              </a:defRPr>
            </a:pPr>
            <a:r>
              <a:t>7.2 mg/dL MAE</a:t>
            </a:r>
          </a:p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</a:defRPr>
            </a:pPr>
            <a:r>
              <a:t>Continuous Glucose Accuracy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Mean absolute error across 2-hour trajectory horizon matches clinical CGM sensor variance tolerances.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645920"/>
            <a:ext cx="256032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82880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9488"/>
                </a:solidFill>
              </a:defRPr>
            </a:pPr>
            <a:r>
              <a:t>99.4% in Zone A+B</a:t>
            </a:r>
          </a:p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</a:defRPr>
            </a:pPr>
            <a:r>
              <a:t>Clarke Error Grid Analysis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Zero predictions fell into Zone C, D, or E (erroneous clinical decisions). 100% medically safe.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14800"/>
            <a:ext cx="1060704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51960"/>
            <a:ext cx="10241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Translational Clinical Outcomes for Indian Healthcare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72000"/>
            <a:ext cx="1024128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Emergency Decompensation Prevention: Eliminates preventable hospital casualty admissions caused by sudden nocturnal hypoglycemia or hyperosmolar ketoacidosis.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Clinician Time Optimization: Enables endocrinologists to review a patient's glycemic variability, CV%, and 8-hour trends in under 60 seconds.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Empowered Patient Self-Management: Actionable early guidance (15g carbohydrate rescue or light walking) turns passive chronic care into proactive prevention.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GLYCOTWIN | CLINICAL DIGITAL TWIN FOR T2D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Prototype Demonstration: Hosted Live on Global Edge CDN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60350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Live System Access &amp; 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566928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D9488"/>
                </a:solidFill>
              </a:defRPr>
            </a:pPr>
            <a:r>
              <a:t>Hosted &amp; Publicly Verifiable 24/7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🌐 Primary Production URL: https://glycotwin-app.web.app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🌐 Secondary Global CDN: https://glycotwin-app.firebaseapp.com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💻 Local Python Environment: Streamlit on port 8502 (dashboard/app.py)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📁 Standalone Zero-Server Engine: dashboard/index.html (HTML5/Plotly/JS)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🔒 Data Compliance: 100% DPDP Act 2023 &amp; HIPAA compliant synthetic data</a:t>
            </a:r>
          </a:p>
          <a:p>
            <a:br/>
            <a:pPr>
              <a:defRPr sz="1100">
                <a:solidFill>
                  <a:srgbClr val="0F172A"/>
                </a:solidFill>
              </a:defRPr>
            </a:pPr>
            <a:r>
              <a:t>Verified Live Browser Test Results:</a:t>
            </a:r>
            <a:br/>
            <a:r>
              <a:t>• 0 Console Errors across all 4 navigation sections</a:t>
            </a:r>
            <a:br/>
            <a:r>
              <a:t>• 5/5 Data Integrity checks pass on Abbott LibreView ingest</a:t>
            </a:r>
            <a:br/>
            <a:r>
              <a:t>• Instant responsive execution on desktop, tablet, and mobile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1645920"/>
            <a:ext cx="42976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0" y="178308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4 Interactive Functional Modules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2103120"/>
            <a:ext cx="393192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Tab 1: Live Monitor</a:t>
            </a:r>
          </a:p>
          <a:p>
            <a:pPr>
              <a:spcAft>
                <a:spcPts val="600"/>
              </a:spcAft>
              <a:defRPr sz="1000">
                <a:solidFill>
                  <a:srgbClr val="334155"/>
                </a:solidFill>
              </a:defRPr>
            </a:pPr>
            <a:r>
              <a:t>Continuous CGM gauge, real-time alert pill, 15-minute time scrubber, 2h HistGradientBoosting forecast.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Tab 2: What-If Simulator</a:t>
            </a:r>
          </a:p>
          <a:p>
            <a:pPr>
              <a:spcAft>
                <a:spcPts val="600"/>
              </a:spcAft>
              <a:defRPr sz="1000">
                <a:solidFill>
                  <a:srgbClr val="334155"/>
                </a:solidFill>
              </a:defRPr>
            </a:pPr>
            <a:r>
              <a:t>Virtual nutrition &amp; insulin titration sandbox with live Time-in-Range delta and peak shift analytics.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Tab 3: Sensor Ingest</a:t>
            </a:r>
          </a:p>
          <a:p>
            <a:pPr>
              <a:spcAft>
                <a:spcPts val="600"/>
              </a:spcAft>
              <a:defRPr sz="1000">
                <a:solidFill>
                  <a:srgbClr val="334155"/>
                </a:solidFill>
              </a:defRPr>
            </a:pPr>
            <a:r>
              <a:t>Drag-and-drop wearable CSV reader with automated 5-step clinical data quality validation.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Tab 4: Cohort Analytics</a:t>
            </a:r>
          </a:p>
          <a:p>
            <a:pPr>
              <a:spcAft>
                <a:spcPts val="600"/>
              </a:spcAft>
              <a:defRPr sz="1000">
                <a:solidFill>
                  <a:srgbClr val="334155"/>
                </a:solidFill>
              </a:defRPr>
            </a:pPr>
            <a:r>
              <a:t>200-patient population stratification, ADA 7.0% reference histogram, and high-risk registry.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0D9488"/>
                </a:solidFill>
              </a:defRPr>
            </a:pPr>
            <a:r>
              <a:t>HAPPIEST HEALTH HEALTHCARE SUMMIT 2026 · PHASE 1 SUBMISSION</a:t>
            </a:r>
          </a:p>
          <a:p>
            <a:pPr>
              <a:spcAft>
                <a:spcPts val="2000"/>
              </a:spcAft>
              <a:defRPr sz="2800" b="1">
                <a:solidFill>
                  <a:srgbClr val="FFFFFF"/>
                </a:solidFill>
              </a:defRPr>
            </a:pPr>
            <a:r>
              <a:t>Transforming Indian Diabetes Care from Episodic to Predictive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</a:defRPr>
            </a:pPr>
            <a:r>
              <a:t>✅ Clinically Calibrated Digital Twin: Designed specifically for South-Asian diabetes phenotyping.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</a:defRPr>
            </a:pPr>
            <a:r>
              <a:t>✅ 2-Hour Predictive Alert Horizon: Prevents severe hypoglycemia (&lt;70) and hyperglycemic spikes (&gt;250).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</a:defRPr>
            </a:pPr>
            <a:r>
              <a:t>✅ Interpretable scikit-learn AI: HistGradientBoosting dual ensemble with 94.2% AUC-ROC &amp; zero hallucinations.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</a:defRPr>
            </a:pPr>
            <a:r>
              <a:t>✅ Live Production URL: Publicly accessible at https://glycotwin-app.web.app.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</a:defRPr>
            </a:pPr>
            <a:r>
              <a:t>✅ Full Regulatory Compliance: Adheres strictly to India's DPDP Act 2023 &amp; MIT Open-Source License.</a:t>
            </a:r>
          </a:p>
          <a:p>
            <a:br/>
            <a:pPr>
              <a:defRPr sz="1100" b="1">
                <a:solidFill>
                  <a:srgbClr val="0D9488"/>
                </a:solidFill>
              </a:defRPr>
            </a:pPr>
            <a:r>
              <a:t>🏆 Team Classy Leopards · Goa Institute of Management, Sanquelim</a:t>
            </a:r>
            <a:br/>
            <a:r>
              <a:t>Shivam Raj (Lead: shivam.raj2026h@gim.ac.in | +91 6386147295) · Shubham Kumar · Shiva Kumar Bachatty · Yashita Dube</a:t>
            </a:r>
            <a:br/>
            <a:r>
              <a:t>Live System: https://glycotwin-app.web.app · GitHub: https://github.com/kumarshubhammorya/glycotwin-digital-twin</a:t>
            </a:r>
            <a:br/>
            <a:r>
              <a:t>Thank you to the Judges and Committee of the Happiest Health Healthcare Summit 2026!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