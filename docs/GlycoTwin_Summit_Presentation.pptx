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dPt>
            <c:idx val="0"/>
            <c:spPr>
              <a:solidFill>
                <a:srgbClr val="0F766E"/>
              </a:solidFill>
              <a:ln>
                <a:noFill/>
              </a:ln>
            </c:spPr>
          </c:dPt>
          <c:dPt>
            <c:idx val="1"/>
            <c:spPr>
              <a:solidFill>
                <a:srgbClr val="94A3B8"/>
              </a:solidFill>
              <a:ln>
                <a:noFill/>
              </a:ln>
            </c:spPr>
          </c:dPt>
          <c:dPt>
            <c:idx val="2"/>
            <c:spPr>
              <a:solidFill>
                <a:srgbClr val="94A3B8"/>
              </a:solidFill>
              <a:ln>
                <a:noFill/>
              </a:ln>
            </c:spPr>
          </c:dPt>
          <c:cat>
            <c:strRef>
              <c:f>Sheet1!$A$2:$A$4</c:f>
              <c:strCache>
                <c:ptCount val="3"/>
                <c:pt idx="0">
                  <c:v>GlycoTwin regressor</c:v>
                </c:pt>
                <c:pt idx="1">
                  <c:v>Persistence (glucose stays the same)</c:v>
                </c:pt>
                <c:pt idx="2">
                  <c:v>Linear extrapolation</c:v>
                </c:pt>
              </c:strCache>
            </c:strRef>
          </c:cat>
          <c:val>
            <c:numRef>
              <c:f>Sheet1!$B$2:$B$4</c:f>
              <c:numCache>
                <c:formatCode>General</c:formatCode>
                <c:ptCount val="3"/>
                <c:pt idx="0">
                  <c:v>11.0</c:v>
                </c:pt>
                <c:pt idx="1">
                  <c:v>20.77</c:v>
                </c:pt>
                <c:pt idx="2">
                  <c:v>35.2</c:v>
                </c:pt>
              </c:numCache>
            </c:numRef>
          </c:val>
        </c:ser>
        <c:dLbls>
          <c:numFmt formatCode="0.0" sourceLinked="0"/>
          <c:txPr>
            <a:bodyPr/>
            <a:lstStyle/>
            <a:p>
              <a:pPr>
                <a:defRPr sz="1400" b="1">
                  <a:solidFill>
                    <a:srgbClr val="1E293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low"/>
        <c:spPr>
          <a:ln>
            <a:solidFill>
              <a:srgbClr val="CBD5E1"/>
            </a:solidFill>
          </a:ln>
        </c:spPr>
        <c:txPr>
          <a:bodyPr/>
          <a:lstStyle/>
          <a:p>
            <a:pPr>
              <a:defRPr sz="1400">
                <a:solidFill>
                  <a:srgbClr val="334155"/>
                </a:solidFill>
              </a:defRPr>
            </a:pPr>
          </a:p>
        </c:txPr>
        <c:crossAx val="-2113994440"/>
        <c:crosses val="autoZero"/>
        <c:auto val="1"/>
        <c:lblAlgn val="ctr"/>
        <c:lblOffset val="100"/>
        <c:noMultiLvlLbl val="0"/>
      </c:catAx>
      <c:valAx>
        <c:axId val="-2113994440"/>
        <c:scaling>
          <c:max val="42.24"/>
          <c:min val="0.0"/>
        </c:scaling>
        <c:delete/>
        <c:axPos val="b"/>
        <c:majorTickMark val="out"/>
        <c:minorTickMark val="none"/>
        <c:tickLblPos val="nextTo"/>
        <c:crossAx val="-2068027336"/>
        <c:crosses val="autoZero"/>
      </c:valAx>
    </c:plotArea>
    <c:dispBlanksAs val="gap"/>
  </c:chart>
  <c:txPr>
    <a:bodyPr/>
    <a:lstStyle/>
    <a:p>
      <a:pPr>
        <a:defRPr sz="1400">
          <a:solidFill>
            <a:srgbClr val="33415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dPt>
            <c:idx val="0"/>
            <c:spPr>
              <a:solidFill>
                <a:srgbClr val="0F766E"/>
              </a:solidFill>
              <a:ln>
                <a:noFill/>
              </a:ln>
            </c:spPr>
          </c:dPt>
          <c:dPt>
            <c:idx val="1"/>
            <c:spPr>
              <a:solidFill>
                <a:srgbClr val="94A3B8"/>
              </a:solidFill>
              <a:ln>
                <a:noFill/>
              </a:ln>
            </c:spPr>
          </c:dPt>
          <c:dPt>
            <c:idx val="2"/>
            <c:spPr>
              <a:solidFill>
                <a:srgbClr val="94A3B8"/>
              </a:solidFill>
              <a:ln>
                <a:noFill/>
              </a:ln>
            </c:spPr>
          </c:dPt>
          <c:dPt>
            <c:idx val="3"/>
            <c:spPr>
              <a:solidFill>
                <a:srgbClr val="94A3B8"/>
              </a:solidFill>
              <a:ln>
                <a:noFill/>
              </a:ln>
            </c:spPr>
          </c:dPt>
          <c:dPt>
            <c:idx val="4"/>
            <c:spPr>
              <a:solidFill>
                <a:srgbClr val="94A3B8"/>
              </a:solidFill>
              <a:ln>
                <a:noFill/>
              </a:ln>
            </c:spPr>
          </c:dPt>
          <c:dPt>
            <c:idx val="5"/>
            <c:spPr>
              <a:solidFill>
                <a:srgbClr val="94A3B8"/>
              </a:solidFill>
              <a:ln>
                <a:noFill/>
              </a:ln>
            </c:spPr>
          </c:dPt>
          <c:dPt>
            <c:idx val="6"/>
            <c:spPr>
              <a:solidFill>
                <a:srgbClr val="94A3B8"/>
              </a:solidFill>
              <a:ln>
                <a:noFill/>
              </a:ln>
            </c:spPr>
          </c:dPt>
          <c:cat>
            <c:strRef>
              <c:f>Sheet1!$A$2:$A$8</c:f>
              <c:strCache>
                <c:ptCount val="7"/>
                <c:pt idx="0">
                  <c:v>All: EHR + wearables (34)</c:v>
                </c:pt>
                <c:pt idx="1">
                  <c:v>Wearables only (18)</c:v>
                </c:pt>
                <c:pt idx="2">
                  <c:v>EHR only + hour of day (17)</c:v>
                </c:pt>
                <c:pt idx="3">
                  <c:v>Without CGM (29)</c:v>
                </c:pt>
                <c:pt idx="4">
                  <c:v>Without HR, HRV, sleep (29)</c:v>
                </c:pt>
                <c:pt idx="5">
                  <c:v>Without history, genetics (31)</c:v>
                </c:pt>
                <c:pt idx="6">
                  <c:v>Without hour of day (33)</c:v>
                </c:pt>
              </c:strCache>
            </c:strRef>
          </c:cat>
          <c:val>
            <c:numRef>
              <c:f>Sheet1!$B$2:$B$8</c:f>
              <c:numCache>
                <c:formatCode>General</c:formatCode>
                <c:ptCount val="7"/>
                <c:pt idx="0">
                  <c:v>11.08</c:v>
                </c:pt>
                <c:pt idx="1">
                  <c:v>11.45</c:v>
                </c:pt>
                <c:pt idx="2">
                  <c:v>15.91</c:v>
                </c:pt>
                <c:pt idx="3">
                  <c:v>14.55</c:v>
                </c:pt>
                <c:pt idx="4">
                  <c:v>11.07</c:v>
                </c:pt>
                <c:pt idx="5">
                  <c:v>11.1</c:v>
                </c:pt>
                <c:pt idx="6">
                  <c:v>13.86</c:v>
                </c:pt>
              </c:numCache>
            </c:numRef>
          </c:val>
        </c:ser>
        <c:dLbls>
          <c:numFmt formatCode="0.00" sourceLinked="0"/>
          <c:txPr>
            <a:bodyPr/>
            <a:lstStyle/>
            <a:p>
              <a:pPr>
                <a:defRPr sz="1400" b="1">
                  <a:solidFill>
                    <a:srgbClr val="1E293B"/>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none"/>
        <c:minorTickMark val="none"/>
        <c:tickLblPos val="low"/>
        <c:spPr>
          <a:ln>
            <a:solidFill>
              <a:srgbClr val="CBD5E1"/>
            </a:solidFill>
          </a:ln>
        </c:spPr>
        <c:txPr>
          <a:bodyPr/>
          <a:lstStyle/>
          <a:p>
            <a:pPr>
              <a:defRPr sz="1400">
                <a:solidFill>
                  <a:srgbClr val="334155"/>
                </a:solidFill>
              </a:defRPr>
            </a:pPr>
          </a:p>
        </c:txPr>
        <c:crossAx val="-2113994440"/>
        <c:crosses val="autoZero"/>
        <c:auto val="1"/>
        <c:lblAlgn val="ctr"/>
        <c:lblOffset val="100"/>
        <c:noMultiLvlLbl val="0"/>
      </c:catAx>
      <c:valAx>
        <c:axId val="-2113994440"/>
        <c:scaling>
          <c:max val="19.4102"/>
          <c:min val="0.0"/>
        </c:scaling>
        <c:delete/>
        <c:axPos val="b"/>
        <c:majorTickMark val="out"/>
        <c:minorTickMark val="none"/>
        <c:tickLblPos val="nextTo"/>
        <c:crossAx val="-2068027336"/>
        <c:crosses val="autoZero"/>
      </c:valAx>
    </c:plotArea>
    <c:dispBlanksAs val="gap"/>
  </c:chart>
  <c:txPr>
    <a:bodyPr/>
    <a:lstStyle/>
    <a:p>
      <a:pPr>
        <a:defRPr sz="1400">
          <a:solidFill>
            <a:srgbClr val="33415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Introduce the team and the one-line idea: a per-patient model that combines the static record with the live CGM and wearable stream and warns about lows and highs two hours ahead. Say up front that all data is synthetic and this is a research prototype, not a medical device.</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Scale from ICMR-INDIAB-17; the South Asian phenotype at lower BMI; the ADA hypoglycaemia levels and the time-in-range consensus. The gap we target: events build up over hours between visits.</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Two outputs: an event alert for the next two hours and a point forecast of glucose at +2 h. The doctor stays in charge: the twin ranks who needs attention and explains why; the clinician decides the action.</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Why a simulator: the task needs both streams for the same person, aligned in time, with a label for every window; Synthea has no CGM stream and MIMIC-IV cannot be redistributed. The cost is realism, so every result is labelled synthetic.</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Why gradient-boosted trees: tabular mixed data, rare events, trains in under a minute on a CPU, deterministic with a fixed seed. The split is by patient, so held-out patients are genuinely unseen. Thresholds were chosen on training patients only.</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Two honest baselines: persistence (glucose stays the same) and linear extrapolation of the last 15-minute change. Held-out patients were never used for training or for choosing thresholds. Synthetic data, so this measures how well the model learns the simulator.</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Episode view: of the out-of-range episodes in held-out patients, how many got a warning 15 to 120 minutes before the first out-of-range reading. Window view: sensitivity and precision per 15-minute window. Be explicit about false alarms per patient-day and about the harder case where the patient is in range now.</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Ablation retrains the whole model with feature groups removed, using patient-grouped CV. The EHR-swap test keeps the model fixed and gives each held-out patient someone else's record. The swap test is the stronger evidence; the fusion gains over wearables only are small and come from one CV run without per-fold spread. Be honest that HR, HRV, sleep, history and genetics add no measurable signal in this synthetic data.</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Demo patient IND-PAT-196 is held out (unseen in training). Use the replay slider to step to the hours before the first low and show the alert appearing while the CGM is still in range, then reveal what actually happened. The phone view is the hosted static page for the same patient at an earlier alert.</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The risk board scores every patient at the replay time in one batched model call and ranks them. The what-if sandbox is deliberately rule-based and separate from the ML model; it is a counselling aid, not a forecast. Both dashboards take every performance number from models/metrics.json: Streamlit at runtime, the hosted page at build time.</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Read the safety statement aloud. Regulatory note: clinical use would fall under software as a medical device in India's Medical Devices Rules, 2017.</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wrap="square"/>
          <a:p/>
        </p:txBody>
      </p:sp>
      <p:sp>
        <p:nvSpPr>
          <p:cNvPr id="3" name="Notes Placeholder 2"/>
          <p:cNvSpPr>
            <a:spLocks noGrp="1"/>
          </p:cNvSpPr>
          <p:nvPr>
            <p:ph type="body" idx="3" sz="quarter"/>
          </p:nvPr>
        </p:nvSpPr>
        <p:spPr/>
        <p:txBody>
          <a:bodyPr wrap="square"/>
          <a:lstStyle/>
          <a:p>
            <a:r>
              <a:t>Close with the roadmap and the links. Once the unlisted video link is pasted into README.md section 5, rerun generate_summit_docs.py and the link replaces the pointer to the README on this slide.</a:t>
            </a:r>
          </a:p>
        </p:txBody>
      </p:sp>
      <p:sp>
        <p:nvSpPr>
          <p:cNvPr id="4" name="Slide Number Placeholder 3"/>
          <p:cNvSpPr>
            <a:spLocks noGrp="1"/>
          </p:cNvSpPr>
          <p:nvPr>
            <p:ph type="sldNum" idx="5" sz="quarter"/>
          </p:nvPr>
        </p:nvSpPr>
        <p:spPr/>
        <p:txBody>
          <a:bodyPr wrap="squar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548640"/>
            <a:ext cx="6400800" cy="365760"/>
          </a:xfrm>
          <a:prstGeom prst="rect">
            <a:avLst/>
          </a:prstGeom>
          <a:noFill/>
        </p:spPr>
        <p:txBody>
          <a:bodyPr wrap="square" lIns="36576" rIns="36576" tIns="36576" bIns="36576" anchor="t">
            <a:noAutofit/>
          </a:bodyPr>
          <a:lstStyle/>
          <a:p>
            <a:pPr algn="l">
              <a:spcAft>
                <a:spcPts val="400"/>
              </a:spcAft>
            </a:pPr>
            <a:r>
              <a:rPr sz="1400" b="1" i="0">
                <a:solidFill>
                  <a:srgbClr val="99F6E4"/>
                </a:solidFill>
                <a:latin typeface="Calibri"/>
              </a:rPr>
              <a:t>HAPPIEST HEALTH DIGITAL TWIN CHALLENGE 2026 · PHASE 1</a:t>
            </a:r>
          </a:p>
        </p:txBody>
      </p:sp>
      <p:sp>
        <p:nvSpPr>
          <p:cNvPr id="3" name="TextBox 2"/>
          <p:cNvSpPr txBox="1"/>
          <p:nvPr/>
        </p:nvSpPr>
        <p:spPr>
          <a:xfrm>
            <a:off x="640080" y="960120"/>
            <a:ext cx="6400800" cy="914400"/>
          </a:xfrm>
          <a:prstGeom prst="rect">
            <a:avLst/>
          </a:prstGeom>
          <a:noFill/>
        </p:spPr>
        <p:txBody>
          <a:bodyPr wrap="square" lIns="36576" rIns="36576" tIns="36576" bIns="36576" anchor="t">
            <a:noAutofit/>
          </a:bodyPr>
          <a:lstStyle/>
          <a:p>
            <a:pPr algn="l">
              <a:spcAft>
                <a:spcPts val="0"/>
              </a:spcAft>
            </a:pPr>
            <a:r>
              <a:rPr sz="6000" b="1" i="0">
                <a:solidFill>
                  <a:srgbClr val="FFFFFF"/>
                </a:solidFill>
                <a:latin typeface="Calibri"/>
              </a:rPr>
              <a:t>GlycoTwin</a:t>
            </a:r>
          </a:p>
        </p:txBody>
      </p:sp>
      <p:sp>
        <p:nvSpPr>
          <p:cNvPr id="4" name="TextBox 3"/>
          <p:cNvSpPr txBox="1"/>
          <p:nvPr/>
        </p:nvSpPr>
        <p:spPr>
          <a:xfrm>
            <a:off x="640080" y="1965960"/>
            <a:ext cx="6035040" cy="1463040"/>
          </a:xfrm>
          <a:prstGeom prst="rect">
            <a:avLst/>
          </a:prstGeom>
          <a:noFill/>
        </p:spPr>
        <p:txBody>
          <a:bodyPr wrap="square" lIns="36576" rIns="36576" tIns="36576" bIns="36576" anchor="t">
            <a:noAutofit/>
          </a:bodyPr>
          <a:lstStyle/>
          <a:p>
            <a:pPr algn="l">
              <a:lnSpc>
                <a:spcPct val="105000"/>
              </a:lnSpc>
              <a:spcAft>
                <a:spcPts val="400"/>
              </a:spcAft>
            </a:pPr>
            <a:r>
              <a:rPr sz="2000" b="0" i="0">
                <a:solidFill>
                  <a:srgbClr val="E2E8F0"/>
                </a:solidFill>
                <a:latin typeface="Calibri"/>
              </a:rPr>
              <a:t>A multimodal digital twin for Type 2 diabetes that forecasts hypoglycaemia (&lt;70 mg/dL) and marked hyperglycaemia (&gt;250 mg/dL) 2 hours ahead, by fusing a synthetic EHR with synthetic CGM and wearable data</a:t>
            </a:r>
          </a:p>
        </p:txBody>
      </p:sp>
      <p:sp>
        <p:nvSpPr>
          <p:cNvPr id="5" name="Rounded Rectangle 4"/>
          <p:cNvSpPr/>
          <p:nvPr/>
        </p:nvSpPr>
        <p:spPr>
          <a:xfrm>
            <a:off x="640080" y="3657600"/>
            <a:ext cx="6035040" cy="1600200"/>
          </a:xfrm>
          <a:prstGeom prst="roundRect">
            <a:avLst>
              <a:gd name="adj" fmla="val 5000"/>
            </a:avLst>
          </a:prstGeom>
          <a:solidFill>
            <a:srgbClr val="1E293B"/>
          </a:solidFill>
          <a:ln>
            <a:noFill/>
          </a:ln>
          <a:effectLst/>
        </p:spPr>
        <p:txBody>
          <a:bodyPr rtlCol="0" anchor="ctr" wrap="square" lIns="182880" rIns="182880">
            <a:noAutofit/>
          </a:bodyPr>
          <a:lstStyle/>
          <a:p>
            <a:pPr algn="l">
              <a:spcAft>
                <a:spcPts val="200"/>
              </a:spcAft>
            </a:pPr>
            <a:r>
              <a:rPr sz="2000" b="1" i="0">
                <a:solidFill>
                  <a:srgbClr val="FFFFFF"/>
                </a:solidFill>
                <a:latin typeface="Calibri"/>
              </a:rPr>
              <a:t>Team Classy Leopards</a:t>
            </a:r>
          </a:p>
          <a:p>
            <a:pPr algn="l">
              <a:spcAft>
                <a:spcPts val="1000"/>
              </a:spcAft>
            </a:pPr>
            <a:r>
              <a:rPr sz="1600" b="0" i="0">
                <a:solidFill>
                  <a:srgbClr val="E2E8F0"/>
                </a:solidFill>
                <a:latin typeface="Calibri"/>
              </a:rPr>
              <a:t>Goa Institute of Management, Sanquelim, Goa</a:t>
            </a:r>
          </a:p>
          <a:p>
            <a:pPr algn="l">
              <a:spcAft>
                <a:spcPts val="400"/>
              </a:spcAft>
            </a:pPr>
            <a:r>
              <a:rPr sz="1600" b="1" i="0">
                <a:solidFill>
                  <a:srgbClr val="FFFFFF"/>
                </a:solidFill>
                <a:latin typeface="Calibri"/>
              </a:rPr>
              <a:t>Shivam Raj (team leader)</a:t>
            </a:r>
          </a:p>
          <a:p>
            <a:pPr algn="l">
              <a:spcAft>
                <a:spcPts val="400"/>
              </a:spcAft>
            </a:pPr>
            <a:r>
              <a:rPr sz="1600" b="0" i="0">
                <a:solidFill>
                  <a:srgbClr val="E2E8F0"/>
                </a:solidFill>
                <a:latin typeface="Calibri"/>
              </a:rPr>
              <a:t>Shubham Kumar · Shiva Kumar Bachatty · Yashita Dube</a:t>
            </a:r>
          </a:p>
        </p:txBody>
      </p:sp>
      <p:sp>
        <p:nvSpPr>
          <p:cNvPr id="6" name="Rounded Rectangle 5"/>
          <p:cNvSpPr/>
          <p:nvPr/>
        </p:nvSpPr>
        <p:spPr>
          <a:xfrm>
            <a:off x="640080" y="5760720"/>
            <a:ext cx="10972800" cy="457200"/>
          </a:xfrm>
          <a:prstGeom prst="roundRect">
            <a:avLst>
              <a:gd name="adj" fmla="val 50000"/>
            </a:avLst>
          </a:prstGeom>
          <a:noFill/>
          <a:ln w="12700">
            <a:solidFill>
              <a:srgbClr val="14B8A6"/>
            </a:solidFill>
          </a:ln>
          <a:effectLst/>
        </p:spPr>
        <p:txBody>
          <a:bodyPr rtlCol="0" anchor="ctr" wrap="square" lIns="109728" rIns="109728">
            <a:noAutofit/>
          </a:bodyPr>
          <a:lstStyle/>
          <a:p>
            <a:pPr algn="ctr">
              <a:spcAft>
                <a:spcPts val="0"/>
              </a:spcAft>
            </a:pPr>
            <a:r>
              <a:rPr sz="1400" b="0" i="0">
                <a:solidFill>
                  <a:srgbClr val="99F6E4"/>
                </a:solidFill>
                <a:latin typeface="Calibri"/>
              </a:rPr>
              <a:t>Synthetic data only · research prototype, not a medical device · not for dosing decisions</a:t>
            </a:r>
          </a:p>
        </p:txBody>
      </p:sp>
      <p:pic>
        <p:nvPicPr>
          <p:cNvPr id="7" name="Picture 6" descr="streamlit_live_monitor.png"/>
          <p:cNvPicPr>
            <a:picLocks noChangeAspect="1"/>
          </p:cNvPicPr>
          <p:nvPr/>
        </p:nvPicPr>
        <p:blipFill>
          <a:blip r:embed="rId2"/>
          <a:srcRect l="68889" t="29111" r="5417" b="3778"/>
          <a:stretch>
            <a:fillRect/>
          </a:stretch>
        </p:blipFill>
        <p:spPr>
          <a:xfrm>
            <a:off x="8023860" y="566928"/>
            <a:ext cx="2697480" cy="4403453"/>
          </a:xfrm>
          <a:prstGeom prst="rect">
            <a:avLst/>
          </a:prstGeom>
          <a:ln w="12700">
            <a:solidFill>
              <a:srgbClr val="14B8A6"/>
            </a:solidFill>
          </a:ln>
        </p:spPr>
      </p:pic>
      <p:sp>
        <p:nvSpPr>
          <p:cNvPr id="8" name="TextBox 7"/>
          <p:cNvSpPr txBox="1"/>
          <p:nvPr/>
        </p:nvSpPr>
        <p:spPr>
          <a:xfrm>
            <a:off x="7086600" y="5061821"/>
            <a:ext cx="4572000" cy="566928"/>
          </a:xfrm>
          <a:prstGeom prst="rect">
            <a:avLst/>
          </a:prstGeom>
          <a:noFill/>
        </p:spPr>
        <p:txBody>
          <a:bodyPr wrap="square" lIns="36576" rIns="36576" tIns="36576" bIns="36576" anchor="t">
            <a:noAutofit/>
          </a:bodyPr>
          <a:lstStyle/>
          <a:p>
            <a:pPr algn="ctr">
              <a:spcAft>
                <a:spcPts val="0"/>
              </a:spcAft>
            </a:pPr>
            <a:r>
              <a:rPr sz="1400" b="0" i="0">
                <a:solidFill>
                  <a:srgbClr val="94A3B8"/>
                </a:solidFill>
                <a:latin typeface="Calibri"/>
              </a:rPr>
              <a:t>Held-out patient: CGM in range now, hypoglycaemia alert for the next 2 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THE PROBLEM IN INDIA</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Diabetes is common in India, and dangerous glucose swings happen between clinic visits</a:t>
            </a:r>
          </a:p>
        </p:txBody>
      </p:sp>
      <p:sp>
        <p:nvSpPr>
          <p:cNvPr id="4" name="Rounded Rectangle 3"/>
          <p:cNvSpPr/>
          <p:nvPr/>
        </p:nvSpPr>
        <p:spPr>
          <a:xfrm>
            <a:off x="548640" y="1691640"/>
            <a:ext cx="5120640" cy="1234440"/>
          </a:xfrm>
          <a:prstGeom prst="roundRect">
            <a:avLst>
              <a:gd name="adj" fmla="val 8000"/>
            </a:avLst>
          </a:prstGeom>
          <a:solidFill>
            <a:srgbClr val="E6F4F1"/>
          </a:solidFill>
          <a:ln>
            <a:noFill/>
          </a:ln>
          <a:effectLst/>
        </p:spPr>
        <p:txBody>
          <a:bodyPr rtlCol="0" anchor="t" wrap="square" lIns="128016" rIns="128016">
            <a:noAutofit/>
          </a:bodyPr>
          <a:lstStyle/>
          <a:p>
            <a:pPr algn="ctr"/>
          </a:p>
        </p:txBody>
      </p:sp>
      <p:sp>
        <p:nvSpPr>
          <p:cNvPr id="5" name="TextBox 4"/>
          <p:cNvSpPr txBox="1"/>
          <p:nvPr/>
        </p:nvSpPr>
        <p:spPr>
          <a:xfrm>
            <a:off x="731520" y="1764792"/>
            <a:ext cx="4754880" cy="566928"/>
          </a:xfrm>
          <a:prstGeom prst="rect">
            <a:avLst/>
          </a:prstGeom>
          <a:noFill/>
        </p:spPr>
        <p:txBody>
          <a:bodyPr wrap="square" lIns="36576" rIns="36576" tIns="36576" bIns="36576" anchor="t">
            <a:noAutofit/>
          </a:bodyPr>
          <a:lstStyle/>
          <a:p>
            <a:pPr algn="l">
              <a:spcAft>
                <a:spcPts val="0"/>
              </a:spcAft>
            </a:pPr>
            <a:r>
              <a:rPr sz="3200" b="1" i="0">
                <a:solidFill>
                  <a:srgbClr val="0F766E"/>
                </a:solidFill>
                <a:latin typeface="Calibri"/>
              </a:rPr>
              <a:t>101 million</a:t>
            </a:r>
          </a:p>
        </p:txBody>
      </p:sp>
      <p:sp>
        <p:nvSpPr>
          <p:cNvPr id="6" name="TextBox 5"/>
          <p:cNvSpPr txBox="1"/>
          <p:nvPr/>
        </p:nvSpPr>
        <p:spPr>
          <a:xfrm>
            <a:off x="731520" y="2295144"/>
            <a:ext cx="4754880" cy="603504"/>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people in India had diabetes in 2021 (11.4% of adults), counted by testing, including undiagnosed cases [1]</a:t>
            </a:r>
          </a:p>
        </p:txBody>
      </p:sp>
      <p:sp>
        <p:nvSpPr>
          <p:cNvPr id="7" name="Rounded Rectangle 6"/>
          <p:cNvSpPr/>
          <p:nvPr/>
        </p:nvSpPr>
        <p:spPr>
          <a:xfrm>
            <a:off x="548640" y="3063240"/>
            <a:ext cx="5120640" cy="1234440"/>
          </a:xfrm>
          <a:prstGeom prst="roundRect">
            <a:avLst>
              <a:gd name="adj" fmla="val 8000"/>
            </a:avLst>
          </a:prstGeom>
          <a:solidFill>
            <a:srgbClr val="E6F4F1"/>
          </a:solidFill>
          <a:ln>
            <a:noFill/>
          </a:ln>
          <a:effectLst/>
        </p:spPr>
        <p:txBody>
          <a:bodyPr rtlCol="0" anchor="t" wrap="square" lIns="128016" rIns="128016">
            <a:noAutofit/>
          </a:bodyPr>
          <a:lstStyle/>
          <a:p>
            <a:pPr algn="ctr"/>
          </a:p>
        </p:txBody>
      </p:sp>
      <p:sp>
        <p:nvSpPr>
          <p:cNvPr id="8" name="TextBox 7"/>
          <p:cNvSpPr txBox="1"/>
          <p:nvPr/>
        </p:nvSpPr>
        <p:spPr>
          <a:xfrm>
            <a:off x="731520" y="3136392"/>
            <a:ext cx="4754880" cy="566928"/>
          </a:xfrm>
          <a:prstGeom prst="rect">
            <a:avLst/>
          </a:prstGeom>
          <a:noFill/>
        </p:spPr>
        <p:txBody>
          <a:bodyPr wrap="square" lIns="36576" rIns="36576" tIns="36576" bIns="36576" anchor="t">
            <a:noAutofit/>
          </a:bodyPr>
          <a:lstStyle/>
          <a:p>
            <a:pPr algn="l">
              <a:spcAft>
                <a:spcPts val="0"/>
              </a:spcAft>
            </a:pPr>
            <a:r>
              <a:rPr sz="3200" b="1" i="0">
                <a:solidFill>
                  <a:srgbClr val="0F766E"/>
                </a:solidFill>
                <a:latin typeface="Calibri"/>
              </a:rPr>
              <a:t>136 million</a:t>
            </a:r>
          </a:p>
        </p:txBody>
      </p:sp>
      <p:sp>
        <p:nvSpPr>
          <p:cNvPr id="9" name="TextBox 8"/>
          <p:cNvSpPr txBox="1"/>
          <p:nvPr/>
        </p:nvSpPr>
        <p:spPr>
          <a:xfrm>
            <a:off x="731520" y="3666744"/>
            <a:ext cx="4754880" cy="603504"/>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had prediabetes (15.3%) [1]</a:t>
            </a:r>
          </a:p>
        </p:txBody>
      </p:sp>
      <p:sp>
        <p:nvSpPr>
          <p:cNvPr id="10" name="Rounded Rectangle 9"/>
          <p:cNvSpPr/>
          <p:nvPr/>
        </p:nvSpPr>
        <p:spPr>
          <a:xfrm>
            <a:off x="548640" y="4434840"/>
            <a:ext cx="5120640" cy="1234440"/>
          </a:xfrm>
          <a:prstGeom prst="roundRect">
            <a:avLst>
              <a:gd name="adj" fmla="val 8000"/>
            </a:avLst>
          </a:prstGeom>
          <a:solidFill>
            <a:srgbClr val="E6F4F1"/>
          </a:solidFill>
          <a:ln>
            <a:noFill/>
          </a:ln>
          <a:effectLst/>
        </p:spPr>
        <p:txBody>
          <a:bodyPr rtlCol="0" anchor="t" wrap="square" lIns="128016" rIns="128016">
            <a:noAutofit/>
          </a:bodyPr>
          <a:lstStyle/>
          <a:p>
            <a:pPr algn="ctr"/>
          </a:p>
        </p:txBody>
      </p:sp>
      <p:sp>
        <p:nvSpPr>
          <p:cNvPr id="11" name="TextBox 10"/>
          <p:cNvSpPr txBox="1"/>
          <p:nvPr/>
        </p:nvSpPr>
        <p:spPr>
          <a:xfrm>
            <a:off x="731520" y="4507992"/>
            <a:ext cx="4754880" cy="566928"/>
          </a:xfrm>
          <a:prstGeom prst="rect">
            <a:avLst/>
          </a:prstGeom>
          <a:noFill/>
        </p:spPr>
        <p:txBody>
          <a:bodyPr wrap="square" lIns="36576" rIns="36576" tIns="36576" bIns="36576" anchor="t">
            <a:noAutofit/>
          </a:bodyPr>
          <a:lstStyle/>
          <a:p>
            <a:pPr algn="l">
              <a:spcAft>
                <a:spcPts val="0"/>
              </a:spcAft>
            </a:pPr>
            <a:r>
              <a:rPr sz="3200" b="1" i="0">
                <a:solidFill>
                  <a:srgbClr val="0F766E"/>
                </a:solidFill>
                <a:latin typeface="Calibri"/>
              </a:rPr>
              <a:t>BMI 23.9 ≈ 30</a:t>
            </a:r>
          </a:p>
        </p:txBody>
      </p:sp>
      <p:sp>
        <p:nvSpPr>
          <p:cNvPr id="12" name="TextBox 11"/>
          <p:cNvSpPr txBox="1"/>
          <p:nvPr/>
        </p:nvSpPr>
        <p:spPr>
          <a:xfrm>
            <a:off x="731520" y="5038344"/>
            <a:ext cx="4754880" cy="603504"/>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South Asian adults reach the diabetes incidence of white adults with BMI 30 at a BMI of about 23.9 [2]</a:t>
            </a:r>
          </a:p>
        </p:txBody>
      </p:sp>
      <p:sp>
        <p:nvSpPr>
          <p:cNvPr id="13" name="Rounded Rectangle 12"/>
          <p:cNvSpPr/>
          <p:nvPr/>
        </p:nvSpPr>
        <p:spPr>
          <a:xfrm>
            <a:off x="6035040" y="1691640"/>
            <a:ext cx="5623560" cy="3977639"/>
          </a:xfrm>
          <a:prstGeom prst="roundRect">
            <a:avLst>
              <a:gd name="adj" fmla="val 4000"/>
            </a:avLst>
          </a:prstGeom>
          <a:solidFill>
            <a:srgbClr val="F1F5F9"/>
          </a:solidFill>
          <a:ln>
            <a:noFill/>
          </a:ln>
          <a:effectLst/>
        </p:spPr>
        <p:txBody>
          <a:bodyPr rtlCol="0" anchor="t" wrap="square" lIns="228600" rIns="228600">
            <a:noAutofit/>
          </a:bodyPr>
          <a:lstStyle/>
          <a:p>
            <a:pPr algn="l">
              <a:spcAft>
                <a:spcPts val="1000"/>
              </a:spcAft>
            </a:pPr>
            <a:r>
              <a:rPr sz="2000" b="1" i="0">
                <a:solidFill>
                  <a:srgbClr val="0F172A"/>
                </a:solidFill>
                <a:latin typeface="Calibri"/>
              </a:rPr>
              <a:t>What goes wrong between visits</a:t>
            </a:r>
          </a:p>
          <a:p>
            <a:pPr algn="l" marL="219456" indent="-219456">
              <a:spcAft>
                <a:spcPts val="1000"/>
              </a:spcAft>
              <a:buClr>
                <a:srgbClr val="B91C1C"/>
              </a:buClr>
              <a:buFont typeface="Arial"/>
              <a:buChar char="•"/>
            </a:pPr>
            <a:r>
              <a:rPr sz="1600" b="1" i="0">
                <a:solidFill>
                  <a:srgbClr val="B91C1C"/>
                </a:solidFill>
                <a:latin typeface="Calibri"/>
              </a:rPr>
              <a:t>Hypoglycaemia: </a:t>
            </a:r>
            <a:r>
              <a:rPr sz="1600" b="0" i="0">
                <a:solidFill>
                  <a:srgbClr val="334155"/>
                </a:solidFill>
                <a:latin typeface="Calibri"/>
              </a:rPr>
              <a:t>Level 1 is &lt;70 mg/dL, Level 2 is &lt;54 mg/dL [3]. In Type 2 diabetes the main drug causes are sulfonylureas and insulin; risk rises with age and lower kidney function.</a:t>
            </a:r>
          </a:p>
          <a:p>
            <a:pPr algn="l" marL="219456" indent="-219456">
              <a:spcAft>
                <a:spcPts val="1000"/>
              </a:spcAft>
              <a:buClr>
                <a:srgbClr val="B45309"/>
              </a:buClr>
              <a:buFont typeface="Arial"/>
              <a:buChar char="•"/>
            </a:pPr>
            <a:r>
              <a:rPr sz="1600" b="1" i="0">
                <a:solidFill>
                  <a:srgbClr val="B45309"/>
                </a:solidFill>
                <a:latin typeface="Calibri"/>
              </a:rPr>
              <a:t>Marked hyperglycaemia: </a:t>
            </a:r>
            <a:r>
              <a:rPr sz="1600" b="0" i="0">
                <a:solidFill>
                  <a:srgbClr val="334155"/>
                </a:solidFill>
                <a:latin typeface="Calibri"/>
              </a:rPr>
              <a:t>&gt;250 mg/dL. The time-in-range consensus asks for more than 70% of readings in 70⁠–⁠180 mg/dL and fewer than 4% below 70 [4].</a:t>
            </a:r>
          </a:p>
          <a:p>
            <a:pPr algn="l" marL="219456" indent="-219456">
              <a:spcAft>
                <a:spcPts val="1000"/>
              </a:spcAft>
              <a:buClr>
                <a:srgbClr val="0F766E"/>
              </a:buClr>
              <a:buFont typeface="Arial"/>
              <a:buChar char="•"/>
            </a:pPr>
            <a:r>
              <a:rPr sz="1600" b="1" i="0">
                <a:solidFill>
                  <a:srgbClr val="0F766E"/>
                </a:solidFill>
                <a:latin typeface="Calibri"/>
              </a:rPr>
              <a:t>Care is episodic: </a:t>
            </a:r>
            <a:r>
              <a:rPr sz="1600" b="0" i="0">
                <a:solidFill>
                  <a:srgbClr val="334155"/>
                </a:solidFill>
                <a:latin typeface="Calibri"/>
              </a:rPr>
              <a:t>clinic reviews happen every few months. A CGM shows the trend, but someone still has to notice a trend heading out of range and act before it gets there.</a:t>
            </a:r>
          </a:p>
        </p:txBody>
      </p:sp>
      <p:sp>
        <p:nvSpPr>
          <p:cNvPr id="14" name="TextBox 13"/>
          <p:cNvSpPr txBox="1"/>
          <p:nvPr/>
        </p:nvSpPr>
        <p:spPr>
          <a:xfrm>
            <a:off x="548640" y="5788152"/>
            <a:ext cx="11064240" cy="566928"/>
          </a:xfrm>
          <a:prstGeom prst="rect">
            <a:avLst/>
          </a:prstGeom>
          <a:noFill/>
        </p:spPr>
        <p:txBody>
          <a:bodyPr wrap="square" lIns="36576" rIns="36576" tIns="36576" bIns="36576" anchor="t">
            <a:noAutofit/>
          </a:bodyPr>
          <a:lstStyle/>
          <a:p>
            <a:pPr algn="l">
              <a:spcAft>
                <a:spcPts val="0"/>
              </a:spcAft>
            </a:pPr>
            <a:r>
              <a:rPr sz="1200" b="0" i="0">
                <a:solidFill>
                  <a:srgbClr val="64748B"/>
                </a:solidFill>
                <a:latin typeface="Calibri"/>
              </a:rPr>
              <a:t>[1] Anjana RM et al., ICMR-INDIAB-17, Lancet Diabetes Endocrinol 2023  ·  [2] Caleyachetty R et al., Lancet Diabetes Endocrinol 2021</a:t>
            </a:r>
          </a:p>
          <a:p>
            <a:pPr algn="l">
              <a:spcAft>
                <a:spcPts val="0"/>
              </a:spcAft>
            </a:pPr>
            <a:r>
              <a:rPr sz="1200" b="0" i="0">
                <a:solidFill>
                  <a:srgbClr val="64748B"/>
                </a:solidFill>
                <a:latin typeface="Calibri"/>
              </a:rPr>
              <a:t>[3] ADA Standards of Care in Diabetes 2025, section 6  ·  [4] Battelino T et al., Diabetes Care 2019</a:t>
            </a:r>
          </a:p>
        </p:txBody>
      </p:sp>
      <p:sp>
        <p:nvSpPr>
          <p:cNvPr id="15"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Synthetic data only · research prototype, not a medical device · not for dosing decisions</a:t>
            </a:r>
          </a:p>
        </p:txBody>
      </p:sp>
      <p:sp>
        <p:nvSpPr>
          <p:cNvPr id="16"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OUR SOLUTION</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Every 15 minutes, one fused feature set and two models answer two questions per patient</a:t>
            </a:r>
          </a:p>
        </p:txBody>
      </p:sp>
      <p:sp>
        <p:nvSpPr>
          <p:cNvPr id="4" name="Rounded Rectangle 3"/>
          <p:cNvSpPr/>
          <p:nvPr/>
        </p:nvSpPr>
        <p:spPr>
          <a:xfrm>
            <a:off x="548640" y="1691640"/>
            <a:ext cx="3200400" cy="1325880"/>
          </a:xfrm>
          <a:prstGeom prst="roundRect">
            <a:avLst>
              <a:gd name="adj" fmla="val 8000"/>
            </a:avLst>
          </a:prstGeom>
          <a:solidFill>
            <a:srgbClr val="F1F5F9"/>
          </a:solidFill>
          <a:ln>
            <a:noFill/>
          </a:ln>
          <a:effectLst/>
        </p:spPr>
        <p:txBody>
          <a:bodyPr rtlCol="0" anchor="t" wrap="square" lIns="128016" rIns="128016">
            <a:noAutofit/>
          </a:bodyPr>
          <a:lstStyle/>
          <a:p>
            <a:pPr algn="l">
              <a:spcAft>
                <a:spcPts val="200"/>
              </a:spcAft>
            </a:pPr>
            <a:r>
              <a:rPr sz="1800" b="1" i="0">
                <a:solidFill>
                  <a:srgbClr val="0F172A"/>
                </a:solidFill>
                <a:latin typeface="Calibri"/>
              </a:rPr>
              <a:t>Static EHR</a:t>
            </a:r>
          </a:p>
          <a:p>
            <a:pPr algn="l">
              <a:spcAft>
                <a:spcPts val="400"/>
              </a:spcAft>
            </a:pPr>
            <a:r>
              <a:rPr sz="1500" b="0" i="0">
                <a:solidFill>
                  <a:srgbClr val="334155"/>
                </a:solidFill>
                <a:latin typeface="Calibri"/>
              </a:rPr>
              <a:t>Demographics, labs, medication, history, TCF7L2 genotype</a:t>
            </a:r>
          </a:p>
        </p:txBody>
      </p:sp>
      <p:sp>
        <p:nvSpPr>
          <p:cNvPr id="5" name="Rounded Rectangle 4"/>
          <p:cNvSpPr/>
          <p:nvPr/>
        </p:nvSpPr>
        <p:spPr>
          <a:xfrm>
            <a:off x="548640" y="3200400"/>
            <a:ext cx="3200400" cy="1325880"/>
          </a:xfrm>
          <a:prstGeom prst="roundRect">
            <a:avLst>
              <a:gd name="adj" fmla="val 8000"/>
            </a:avLst>
          </a:prstGeom>
          <a:solidFill>
            <a:srgbClr val="F1F5F9"/>
          </a:solidFill>
          <a:ln>
            <a:noFill/>
          </a:ln>
          <a:effectLst/>
        </p:spPr>
        <p:txBody>
          <a:bodyPr rtlCol="0" anchor="t" wrap="square" lIns="128016" rIns="128016">
            <a:noAutofit/>
          </a:bodyPr>
          <a:lstStyle/>
          <a:p>
            <a:pPr algn="l">
              <a:spcAft>
                <a:spcPts val="200"/>
              </a:spcAft>
            </a:pPr>
            <a:r>
              <a:rPr sz="1800" b="1" i="0">
                <a:solidFill>
                  <a:srgbClr val="0F172A"/>
                </a:solidFill>
                <a:latin typeface="Calibri"/>
              </a:rPr>
              <a:t>Live wearable stream</a:t>
            </a:r>
          </a:p>
          <a:p>
            <a:pPr algn="l">
              <a:spcAft>
                <a:spcPts val="400"/>
              </a:spcAft>
            </a:pPr>
            <a:r>
              <a:rPr sz="1500" b="0" i="0">
                <a:solidFill>
                  <a:srgbClr val="334155"/>
                </a:solidFill>
                <a:latin typeface="Calibri"/>
              </a:rPr>
              <a:t>CGM, heart rate, HRV, steps, sleep stage, carbs, insulin</a:t>
            </a:r>
          </a:p>
        </p:txBody>
      </p:sp>
      <p:sp>
        <p:nvSpPr>
          <p:cNvPr id="6" name="Rounded Rectangle 5"/>
          <p:cNvSpPr/>
          <p:nvPr/>
        </p:nvSpPr>
        <p:spPr>
          <a:xfrm>
            <a:off x="4343400" y="2057400"/>
            <a:ext cx="2743200" cy="2103120"/>
          </a:xfrm>
          <a:prstGeom prst="roundRect">
            <a:avLst>
              <a:gd name="adj" fmla="val 8000"/>
            </a:avLst>
          </a:prstGeom>
          <a:solidFill>
            <a:srgbClr val="0F766E"/>
          </a:solidFill>
          <a:ln>
            <a:noFill/>
          </a:ln>
          <a:effectLst/>
        </p:spPr>
        <p:txBody>
          <a:bodyPr rtlCol="0" anchor="ctr" wrap="square" lIns="182880" rIns="182880">
            <a:noAutofit/>
          </a:bodyPr>
          <a:lstStyle/>
          <a:p>
            <a:pPr algn="ctr">
              <a:spcAft>
                <a:spcPts val="400"/>
              </a:spcAft>
            </a:pPr>
            <a:r>
              <a:rPr sz="2400" b="1" i="0">
                <a:solidFill>
                  <a:srgbClr val="FFFFFF"/>
                </a:solidFill>
                <a:latin typeface="Calibri"/>
              </a:rPr>
              <a:t>GlycoTwin</a:t>
            </a:r>
          </a:p>
          <a:p>
            <a:pPr algn="ctr">
              <a:spcAft>
                <a:spcPts val="400"/>
              </a:spcAft>
            </a:pPr>
            <a:r>
              <a:rPr sz="1500" b="0" i="0">
                <a:solidFill>
                  <a:srgbClr val="FFFFFF"/>
                </a:solidFill>
                <a:latin typeface="Calibri"/>
              </a:rPr>
              <a:t>EHR joined to every 15-min window; two gradient-boosted tree models</a:t>
            </a:r>
          </a:p>
        </p:txBody>
      </p:sp>
      <p:cxnSp>
        <p:nvCxnSpPr>
          <p:cNvPr id="7" name="Connector 6"/>
          <p:cNvCxnSpPr/>
          <p:nvPr/>
        </p:nvCxnSpPr>
        <p:spPr>
          <a:xfrm>
            <a:off x="3749039" y="2359152"/>
            <a:ext cx="566929" cy="338328"/>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749039" y="3520440"/>
            <a:ext cx="566929" cy="338328"/>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680960" y="1691640"/>
            <a:ext cx="3977639" cy="1325880"/>
          </a:xfrm>
          <a:prstGeom prst="roundRect">
            <a:avLst>
              <a:gd name="adj" fmla="val 8000"/>
            </a:avLst>
          </a:prstGeom>
          <a:solidFill>
            <a:srgbClr val="FEF2F2"/>
          </a:solidFill>
          <a:ln>
            <a:noFill/>
          </a:ln>
          <a:effectLst/>
        </p:spPr>
        <p:txBody>
          <a:bodyPr rtlCol="0" anchor="t" wrap="square" lIns="128016" rIns="128016">
            <a:noAutofit/>
          </a:bodyPr>
          <a:lstStyle/>
          <a:p>
            <a:pPr algn="l">
              <a:spcAft>
                <a:spcPts val="200"/>
              </a:spcAft>
            </a:pPr>
            <a:r>
              <a:rPr sz="1800" b="1" i="0">
                <a:solidFill>
                  <a:srgbClr val="B91C1C"/>
                </a:solidFill>
                <a:latin typeface="Calibri"/>
              </a:rPr>
              <a:t>1. Event alert</a:t>
            </a:r>
          </a:p>
          <a:p>
            <a:pPr algn="l">
              <a:spcAft>
                <a:spcPts val="400"/>
              </a:spcAft>
            </a:pPr>
            <a:r>
              <a:rPr sz="1500" b="0" i="0">
                <a:solidFill>
                  <a:srgbClr val="334155"/>
                </a:solidFill>
                <a:latin typeface="Calibri"/>
              </a:rPr>
              <a:t>Will any reading in the next 2 h be &lt;70 or &gt;250 mg/dL? Risk score vs a set threshold</a:t>
            </a:r>
          </a:p>
        </p:txBody>
      </p:sp>
      <p:sp>
        <p:nvSpPr>
          <p:cNvPr id="10" name="Rounded Rectangle 9"/>
          <p:cNvSpPr/>
          <p:nvPr/>
        </p:nvSpPr>
        <p:spPr>
          <a:xfrm>
            <a:off x="7680960" y="3200400"/>
            <a:ext cx="3977639" cy="1325880"/>
          </a:xfrm>
          <a:prstGeom prst="roundRect">
            <a:avLst>
              <a:gd name="adj" fmla="val 8000"/>
            </a:avLst>
          </a:prstGeom>
          <a:solidFill>
            <a:srgbClr val="E6F4F1"/>
          </a:solidFill>
          <a:ln>
            <a:noFill/>
          </a:ln>
          <a:effectLst/>
        </p:spPr>
        <p:txBody>
          <a:bodyPr rtlCol="0" anchor="t" wrap="square" lIns="128016" rIns="128016">
            <a:noAutofit/>
          </a:bodyPr>
          <a:lstStyle/>
          <a:p>
            <a:pPr algn="l">
              <a:spcAft>
                <a:spcPts val="200"/>
              </a:spcAft>
            </a:pPr>
            <a:r>
              <a:rPr sz="1800" b="1" i="0">
                <a:solidFill>
                  <a:srgbClr val="0F766E"/>
                </a:solidFill>
                <a:latin typeface="Calibri"/>
              </a:rPr>
              <a:t>2. Glucose forecast</a:t>
            </a:r>
          </a:p>
          <a:p>
            <a:pPr algn="l">
              <a:spcAft>
                <a:spcPts val="400"/>
              </a:spcAft>
            </a:pPr>
            <a:r>
              <a:rPr sz="1500" b="0" i="0">
                <a:solidFill>
                  <a:srgbClr val="334155"/>
                </a:solidFill>
                <a:latin typeface="Calibri"/>
              </a:rPr>
              <a:t>What will the CGM read exactly 2 h from now (mg/dL)?</a:t>
            </a:r>
          </a:p>
        </p:txBody>
      </p:sp>
      <p:cxnSp>
        <p:nvCxnSpPr>
          <p:cNvPr id="11" name="Connector 10"/>
          <p:cNvCxnSpPr/>
          <p:nvPr/>
        </p:nvCxnSpPr>
        <p:spPr>
          <a:xfrm flipV="1">
            <a:off x="7114032" y="2359152"/>
            <a:ext cx="539495" cy="338328"/>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114032" y="3520440"/>
            <a:ext cx="539495" cy="338328"/>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754880"/>
            <a:ext cx="11064240" cy="365760"/>
          </a:xfrm>
          <a:prstGeom prst="rect">
            <a:avLst/>
          </a:prstGeom>
          <a:noFill/>
        </p:spPr>
        <p:txBody>
          <a:bodyPr wrap="square" lIns="36576" rIns="36576" tIns="36576" bIns="36576" anchor="t">
            <a:noAutofit/>
          </a:bodyPr>
          <a:lstStyle/>
          <a:p>
            <a:pPr algn="l">
              <a:spcAft>
                <a:spcPts val="400"/>
              </a:spcAft>
            </a:pPr>
            <a:r>
              <a:rPr sz="1800" b="1" i="0">
                <a:solidFill>
                  <a:srgbClr val="0F172A"/>
                </a:solidFill>
                <a:latin typeface="Calibri"/>
              </a:rPr>
              <a:t>How a doctor uses the twin</a:t>
            </a:r>
          </a:p>
        </p:txBody>
      </p:sp>
      <p:sp>
        <p:nvSpPr>
          <p:cNvPr id="14" name="Rounded Rectangle 13"/>
          <p:cNvSpPr/>
          <p:nvPr/>
        </p:nvSpPr>
        <p:spPr>
          <a:xfrm>
            <a:off x="548640" y="5166360"/>
            <a:ext cx="2651760" cy="1097280"/>
          </a:xfrm>
          <a:prstGeom prst="roundRect">
            <a:avLst>
              <a:gd name="adj" fmla="val 8000"/>
            </a:avLst>
          </a:prstGeom>
          <a:solidFill>
            <a:srgbClr val="F1F5F9"/>
          </a:solidFill>
          <a:ln>
            <a:noFill/>
          </a:ln>
          <a:effectLst/>
        </p:spPr>
        <p:txBody>
          <a:bodyPr rtlCol="0" anchor="t" wrap="square" lIns="128016" rIns="128016">
            <a:noAutofit/>
          </a:bodyPr>
          <a:lstStyle/>
          <a:p>
            <a:pPr algn="l">
              <a:spcAft>
                <a:spcPts val="200"/>
              </a:spcAft>
            </a:pPr>
            <a:r>
              <a:rPr sz="1500" b="1" i="0">
                <a:solidFill>
                  <a:srgbClr val="0F766E"/>
                </a:solidFill>
                <a:latin typeface="Calibri"/>
              </a:rPr>
              <a:t>Cohort risk board</a:t>
            </a:r>
          </a:p>
          <a:p>
            <a:pPr algn="l">
              <a:spcAft>
                <a:spcPts val="400"/>
              </a:spcAft>
            </a:pPr>
            <a:r>
              <a:rPr sz="1500" b="0" i="0">
                <a:solidFill>
                  <a:srgbClr val="334155"/>
                </a:solidFill>
                <a:latin typeface="Calibri"/>
              </a:rPr>
              <a:t>patients ranked by current 2-h risk score</a:t>
            </a:r>
          </a:p>
        </p:txBody>
      </p:sp>
      <p:sp>
        <p:nvSpPr>
          <p:cNvPr id="15" name="Rounded Rectangle 14"/>
          <p:cNvSpPr/>
          <p:nvPr/>
        </p:nvSpPr>
        <p:spPr>
          <a:xfrm>
            <a:off x="3364992" y="5166360"/>
            <a:ext cx="2651760" cy="1097280"/>
          </a:xfrm>
          <a:prstGeom prst="roundRect">
            <a:avLst>
              <a:gd name="adj" fmla="val 8000"/>
            </a:avLst>
          </a:prstGeom>
          <a:solidFill>
            <a:srgbClr val="F1F5F9"/>
          </a:solidFill>
          <a:ln>
            <a:noFill/>
          </a:ln>
          <a:effectLst/>
        </p:spPr>
        <p:txBody>
          <a:bodyPr rtlCol="0" anchor="t" wrap="square" lIns="128016" rIns="128016">
            <a:noAutofit/>
          </a:bodyPr>
          <a:lstStyle/>
          <a:p>
            <a:pPr algn="l">
              <a:spcAft>
                <a:spcPts val="200"/>
              </a:spcAft>
            </a:pPr>
            <a:r>
              <a:rPr sz="1500" b="1" i="0">
                <a:solidFill>
                  <a:srgbClr val="0F766E"/>
                </a:solidFill>
                <a:latin typeface="Calibri"/>
              </a:rPr>
              <a:t>Live monitor</a:t>
            </a:r>
          </a:p>
          <a:p>
            <a:pPr algn="l">
              <a:spcAft>
                <a:spcPts val="400"/>
              </a:spcAft>
            </a:pPr>
            <a:r>
              <a:rPr sz="1500" b="0" i="0">
                <a:solidFill>
                  <a:srgbClr val="334155"/>
                </a:solidFill>
                <a:latin typeface="Calibri"/>
              </a:rPr>
              <a:t>EHR card, last 8 h of data, forecast and alert</a:t>
            </a:r>
          </a:p>
        </p:txBody>
      </p:sp>
      <p:sp>
        <p:nvSpPr>
          <p:cNvPr id="16" name="Rounded Rectangle 15"/>
          <p:cNvSpPr/>
          <p:nvPr/>
        </p:nvSpPr>
        <p:spPr>
          <a:xfrm>
            <a:off x="6181344" y="5166360"/>
            <a:ext cx="2651760" cy="1097280"/>
          </a:xfrm>
          <a:prstGeom prst="roundRect">
            <a:avLst>
              <a:gd name="adj" fmla="val 8000"/>
            </a:avLst>
          </a:prstGeom>
          <a:solidFill>
            <a:srgbClr val="F1F5F9"/>
          </a:solidFill>
          <a:ln>
            <a:noFill/>
          </a:ln>
          <a:effectLst/>
        </p:spPr>
        <p:txBody>
          <a:bodyPr rtlCol="0" anchor="t" wrap="square" lIns="128016" rIns="128016">
            <a:noAutofit/>
          </a:bodyPr>
          <a:lstStyle/>
          <a:p>
            <a:pPr algn="l">
              <a:spcAft>
                <a:spcPts val="200"/>
              </a:spcAft>
            </a:pPr>
            <a:r>
              <a:rPr sz="1500" b="1" i="0">
                <a:solidFill>
                  <a:srgbClr val="0F766E"/>
                </a:solidFill>
                <a:latin typeface="Calibri"/>
              </a:rPr>
              <a:t>What-if sandbox</a:t>
            </a:r>
          </a:p>
          <a:p>
            <a:pPr algn="l">
              <a:spcAft>
                <a:spcPts val="400"/>
              </a:spcAft>
            </a:pPr>
            <a:r>
              <a:rPr sz="1500" b="0" i="0">
                <a:solidFill>
                  <a:srgbClr val="334155"/>
                </a:solidFill>
                <a:latin typeface="Calibri"/>
              </a:rPr>
              <a:t>rule-based counselling tool, separate from the model</a:t>
            </a:r>
          </a:p>
        </p:txBody>
      </p:sp>
      <p:sp>
        <p:nvSpPr>
          <p:cNvPr id="17" name="Rounded Rectangle 16"/>
          <p:cNvSpPr/>
          <p:nvPr/>
        </p:nvSpPr>
        <p:spPr>
          <a:xfrm>
            <a:off x="8997696" y="5166360"/>
            <a:ext cx="2651760" cy="1097280"/>
          </a:xfrm>
          <a:prstGeom prst="roundRect">
            <a:avLst>
              <a:gd name="adj" fmla="val 8000"/>
            </a:avLst>
          </a:prstGeom>
          <a:solidFill>
            <a:srgbClr val="F1F5F9"/>
          </a:solidFill>
          <a:ln>
            <a:noFill/>
          </a:ln>
          <a:effectLst/>
        </p:spPr>
        <p:txBody>
          <a:bodyPr rtlCol="0" anchor="t" wrap="square" lIns="128016" rIns="128016">
            <a:noAutofit/>
          </a:bodyPr>
          <a:lstStyle/>
          <a:p>
            <a:pPr algn="l">
              <a:spcAft>
                <a:spcPts val="200"/>
              </a:spcAft>
            </a:pPr>
            <a:r>
              <a:rPr sz="1500" b="1" i="0">
                <a:solidFill>
                  <a:srgbClr val="0F766E"/>
                </a:solidFill>
                <a:latin typeface="Calibri"/>
              </a:rPr>
              <a:t>Model card</a:t>
            </a:r>
          </a:p>
          <a:p>
            <a:pPr algn="l">
              <a:spcAft>
                <a:spcPts val="400"/>
              </a:spcAft>
            </a:pPr>
            <a:r>
              <a:rPr sz="1500" b="0" i="0">
                <a:solidFill>
                  <a:srgbClr val="334155"/>
                </a:solidFill>
                <a:latin typeface="Calibri"/>
              </a:rPr>
              <a:t>every number read from models/metrics.json</a:t>
            </a:r>
          </a:p>
        </p:txBody>
      </p:sp>
      <p:sp>
        <p:nvSpPr>
          <p:cNvPr id="18"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Synthetic data only · research prototype, not a medical device · not for dosing decisions</a:t>
            </a:r>
          </a:p>
        </p:txBody>
      </p:sp>
      <p:sp>
        <p:nvSpPr>
          <p:cNvPr id="19"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DATA: TWO SYNTHETIC STREAMS</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Two synthetic streams for the same 200 people, aligned every 15 minutes</a:t>
            </a:r>
          </a:p>
        </p:txBody>
      </p:sp>
      <p:sp>
        <p:nvSpPr>
          <p:cNvPr id="4" name="Rounded Rectangle 3"/>
          <p:cNvSpPr/>
          <p:nvPr/>
        </p:nvSpPr>
        <p:spPr>
          <a:xfrm>
            <a:off x="548640" y="1645920"/>
            <a:ext cx="5440680" cy="2880360"/>
          </a:xfrm>
          <a:prstGeom prst="roundRect">
            <a:avLst>
              <a:gd name="adj" fmla="val 5000"/>
            </a:avLst>
          </a:prstGeom>
          <a:solidFill>
            <a:srgbClr val="F1F5F9"/>
          </a:solidFill>
          <a:ln>
            <a:noFill/>
          </a:ln>
          <a:effectLst/>
        </p:spPr>
        <p:txBody>
          <a:bodyPr rtlCol="0" anchor="t" wrap="square" lIns="182880" rIns="182880">
            <a:noAutofit/>
          </a:bodyPr>
          <a:lstStyle/>
          <a:p>
            <a:pPr algn="l">
              <a:spcAft>
                <a:spcPts val="200"/>
              </a:spcAft>
            </a:pPr>
            <a:r>
              <a:rPr sz="1800" b="1" i="0">
                <a:solidFill>
                  <a:srgbClr val="0F172A"/>
                </a:solidFill>
                <a:latin typeface="Calibri"/>
              </a:rPr>
              <a:t>Static EHR  </a:t>
            </a:r>
            <a:r>
              <a:rPr sz="1400" b="0" i="0">
                <a:solidFill>
                  <a:srgbClr val="64748B"/>
                </a:solidFill>
                <a:latin typeface="Calibri"/>
              </a:rPr>
              <a:t>data/synthetic_ehr.csv</a:t>
            </a:r>
          </a:p>
          <a:p>
            <a:pPr algn="l">
              <a:spcAft>
                <a:spcPts val="600"/>
              </a:spcAft>
            </a:pPr>
            <a:r>
              <a:rPr sz="2200" b="1" i="0">
                <a:solidFill>
                  <a:srgbClr val="0F766E"/>
                </a:solidFill>
                <a:latin typeface="Calibri"/>
              </a:rPr>
              <a:t>200 personas</a:t>
            </a:r>
          </a:p>
          <a:p>
            <a:pPr algn="l" marL="219456" indent="-219456">
              <a:spcAft>
                <a:spcPts val="300"/>
              </a:spcAft>
              <a:buClr>
                <a:srgbClr val="0F766E"/>
              </a:buClr>
              <a:buFont typeface="Arial"/>
              <a:buChar char="•"/>
            </a:pPr>
            <a:r>
              <a:rPr sz="1500" b="0" i="0">
                <a:solidFill>
                  <a:srgbClr val="334155"/>
                </a:solidFill>
                <a:latin typeface="Calibri"/>
              </a:rPr>
              <a:t>Age, sex, diet pattern, BMI; HbA1c, fasting glucose, BP, eGFR, LDL, triglycerides</a:t>
            </a:r>
          </a:p>
          <a:p>
            <a:pPr algn="l" marL="219456" indent="-219456">
              <a:spcAft>
                <a:spcPts val="300"/>
              </a:spcAft>
              <a:buClr>
                <a:srgbClr val="0F766E"/>
              </a:buClr>
              <a:buFont typeface="Arial"/>
              <a:buChar char="•"/>
            </a:pPr>
            <a:r>
              <a:rPr sz="1500" b="0" i="0">
                <a:solidFill>
                  <a:srgbClr val="334155"/>
                </a:solidFill>
                <a:latin typeface="Calibri"/>
              </a:rPr>
              <a:t>Medication, insulin regimen, risk tier, past diagnoses</a:t>
            </a:r>
          </a:p>
          <a:p>
            <a:pPr algn="l" marL="219456" indent="-219456">
              <a:spcAft>
                <a:spcPts val="300"/>
              </a:spcAft>
              <a:buClr>
                <a:srgbClr val="0F766E"/>
              </a:buClr>
              <a:buFont typeface="Arial"/>
              <a:buChar char="•"/>
            </a:pPr>
            <a:r>
              <a:rPr sz="1500" b="0" i="0">
                <a:solidFill>
                  <a:srgbClr val="334155"/>
                </a:solidFill>
                <a:latin typeface="Calibri"/>
              </a:rPr>
              <a:t>Prior hypos (12 m), family history, TCF7L2 rs7903146 risk alleles</a:t>
            </a:r>
          </a:p>
          <a:p>
            <a:pPr algn="l">
              <a:spcBef>
                <a:spcPts val="400"/>
              </a:spcBef>
              <a:spcAft>
                <a:spcPts val="300"/>
              </a:spcAft>
            </a:pPr>
            <a:r>
              <a:rPr sz="1500" b="0" i="0">
                <a:solidFill>
                  <a:srgbClr val="64748B"/>
                </a:solidFill>
                <a:latin typeface="Calibri"/>
              </a:rPr>
              <a:t>HbA1c 5.7–9.7% (mean 6.82%); 66 on a sulfonylurea, 3 on insulin</a:t>
            </a:r>
          </a:p>
        </p:txBody>
      </p:sp>
      <p:sp>
        <p:nvSpPr>
          <p:cNvPr id="5" name="Rounded Rectangle 4"/>
          <p:cNvSpPr/>
          <p:nvPr/>
        </p:nvSpPr>
        <p:spPr>
          <a:xfrm>
            <a:off x="6217920" y="1645920"/>
            <a:ext cx="5440680" cy="2880360"/>
          </a:xfrm>
          <a:prstGeom prst="roundRect">
            <a:avLst>
              <a:gd name="adj" fmla="val 5000"/>
            </a:avLst>
          </a:prstGeom>
          <a:solidFill>
            <a:srgbClr val="F1F5F9"/>
          </a:solidFill>
          <a:ln>
            <a:noFill/>
          </a:ln>
          <a:effectLst/>
        </p:spPr>
        <p:txBody>
          <a:bodyPr rtlCol="0" anchor="t" wrap="square" lIns="182880" rIns="182880">
            <a:noAutofit/>
          </a:bodyPr>
          <a:lstStyle/>
          <a:p>
            <a:pPr algn="l">
              <a:spcAft>
                <a:spcPts val="200"/>
              </a:spcAft>
            </a:pPr>
            <a:r>
              <a:rPr sz="1800" b="1" i="0">
                <a:solidFill>
                  <a:srgbClr val="0F172A"/>
                </a:solidFill>
                <a:latin typeface="Calibri"/>
              </a:rPr>
              <a:t>Live stream  </a:t>
            </a:r>
            <a:r>
              <a:rPr sz="1400" b="0" i="0">
                <a:solidFill>
                  <a:srgbClr val="64748B"/>
                </a:solidFill>
                <a:latin typeface="Calibri"/>
              </a:rPr>
              <a:t>data/synthetic_wearables.csv</a:t>
            </a:r>
          </a:p>
          <a:p>
            <a:pPr algn="l">
              <a:spcAft>
                <a:spcPts val="600"/>
              </a:spcAft>
            </a:pPr>
            <a:r>
              <a:rPr sz="2200" b="1" i="0">
                <a:solidFill>
                  <a:srgbClr val="0F766E"/>
                </a:solidFill>
                <a:latin typeface="Calibri"/>
              </a:rPr>
              <a:t>132,800 windows</a:t>
            </a:r>
            <a:r>
              <a:rPr sz="1500" b="0" i="0">
                <a:solidFill>
                  <a:srgbClr val="64748B"/>
                </a:solidFill>
                <a:latin typeface="Calibri"/>
              </a:rPr>
              <a:t>  200 × 7 days × 15 min</a:t>
            </a:r>
          </a:p>
          <a:p>
            <a:pPr algn="l" marL="219456" indent="-219456">
              <a:spcAft>
                <a:spcPts val="300"/>
              </a:spcAft>
              <a:buClr>
                <a:srgbClr val="0F766E"/>
              </a:buClr>
              <a:buFont typeface="Arial"/>
              <a:buChar char="•"/>
            </a:pPr>
            <a:r>
              <a:rPr sz="1500" b="0" i="0">
                <a:solidFill>
                  <a:srgbClr val="334155"/>
                </a:solidFill>
                <a:latin typeface="Calibri"/>
              </a:rPr>
              <a:t>CGM glucose, heart rate, HRV, steps, sleep stage (Awake/Light/Deep/REM)</a:t>
            </a:r>
          </a:p>
          <a:p>
            <a:pPr algn="l" marL="219456" indent="-219456">
              <a:spcAft>
                <a:spcPts val="300"/>
              </a:spcAft>
              <a:buClr>
                <a:srgbClr val="0F766E"/>
              </a:buClr>
              <a:buFont typeface="Arial"/>
              <a:buChar char="•"/>
            </a:pPr>
            <a:r>
              <a:rPr sz="1500" b="0" i="0">
                <a:solidFill>
                  <a:srgbClr val="334155"/>
                </a:solidFill>
                <a:latin typeface="Calibri"/>
              </a:rPr>
              <a:t>Logged meal carbohydrates and insulin units</a:t>
            </a:r>
          </a:p>
          <a:p>
            <a:pPr algn="l" marL="219456" indent="-219456">
              <a:spcAft>
                <a:spcPts val="300"/>
              </a:spcAft>
              <a:buClr>
                <a:srgbClr val="0F766E"/>
              </a:buClr>
              <a:buFont typeface="Arial"/>
              <a:buChar char="•"/>
            </a:pPr>
            <a:r>
              <a:rPr sz="1500" b="0" i="0">
                <a:solidFill>
                  <a:srgbClr val="334155"/>
                </a:solidFill>
                <a:latin typeface="Calibri"/>
              </a:rPr>
              <a:t>Labels: any reading &lt;70 or &gt;250 in the next 2 h; glucose exactly 2 h ahead</a:t>
            </a:r>
          </a:p>
          <a:p>
            <a:pPr algn="l">
              <a:spcBef>
                <a:spcPts val="400"/>
              </a:spcBef>
              <a:spcAft>
                <a:spcPts val="300"/>
              </a:spcAft>
            </a:pPr>
            <a:r>
              <a:rPr sz="1500" b="0" i="0">
                <a:solidFill>
                  <a:srgbClr val="64748B"/>
                </a:solidFill>
                <a:latin typeface="Calibri"/>
              </a:rPr>
              <a:t>Windows: 128,086 no event · 1,012 hypo · 3,702 hyper. 409 readings &lt;70 (35 &lt;54) in 37 patients</a:t>
            </a:r>
          </a:p>
        </p:txBody>
      </p:sp>
      <p:sp>
        <p:nvSpPr>
          <p:cNvPr id="6" name="Rounded Rectangle 5"/>
          <p:cNvSpPr/>
          <p:nvPr/>
        </p:nvSpPr>
        <p:spPr>
          <a:xfrm>
            <a:off x="548640" y="4709160"/>
            <a:ext cx="11109960" cy="1600200"/>
          </a:xfrm>
          <a:prstGeom prst="roundRect">
            <a:avLst>
              <a:gd name="adj" fmla="val 5000"/>
            </a:avLst>
          </a:prstGeom>
          <a:solidFill>
            <a:srgbClr val="E6F4F1"/>
          </a:solidFill>
          <a:ln>
            <a:noFill/>
          </a:ln>
          <a:effectLst/>
        </p:spPr>
        <p:txBody>
          <a:bodyPr rtlCol="0" anchor="t" wrap="square" lIns="182880" rIns="182880">
            <a:noAutofit/>
          </a:bodyPr>
          <a:lstStyle/>
          <a:p>
            <a:pPr algn="ctr"/>
          </a:p>
        </p:txBody>
      </p:sp>
      <p:sp>
        <p:nvSpPr>
          <p:cNvPr id="7" name="TextBox 6"/>
          <p:cNvSpPr txBox="1"/>
          <p:nvPr/>
        </p:nvSpPr>
        <p:spPr>
          <a:xfrm>
            <a:off x="731520" y="4800600"/>
            <a:ext cx="6675120" cy="1463040"/>
          </a:xfrm>
          <a:prstGeom prst="rect">
            <a:avLst/>
          </a:prstGeom>
          <a:noFill/>
        </p:spPr>
        <p:txBody>
          <a:bodyPr wrap="square" lIns="36576" rIns="36576" tIns="36576" bIns="36576" anchor="t">
            <a:noAutofit/>
          </a:bodyPr>
          <a:lstStyle/>
          <a:p>
            <a:pPr algn="l">
              <a:spcAft>
                <a:spcPts val="400"/>
              </a:spcAft>
            </a:pPr>
            <a:r>
              <a:rPr sz="1600" b="1" i="0">
                <a:solidFill>
                  <a:srgbClr val="0F766E"/>
                </a:solidFill>
                <a:latin typeface="Calibri"/>
              </a:rPr>
              <a:t>The simulator couples the streams on purpose</a:t>
            </a:r>
          </a:p>
          <a:p>
            <a:pPr algn="l" marL="219456" indent="-219456">
              <a:spcAft>
                <a:spcPts val="200"/>
              </a:spcAft>
              <a:buClr>
                <a:srgbClr val="0F766E"/>
              </a:buClr>
              <a:buFont typeface="Arial"/>
              <a:buChar char="•"/>
            </a:pPr>
            <a:r>
              <a:rPr sz="1400" b="0" i="0">
                <a:solidFill>
                  <a:srgbClr val="334155"/>
                </a:solidFill>
                <a:latin typeface="Calibri"/>
              </a:rPr>
              <a:t>Sulfonylurea taken on a skipped breakfast causes lows; missed or extra insulin boluses</a:t>
            </a:r>
          </a:p>
          <a:p>
            <a:pPr algn="l" marL="219456" indent="-219456">
              <a:spcAft>
                <a:spcPts val="200"/>
              </a:spcAft>
              <a:buClr>
                <a:srgbClr val="0F766E"/>
              </a:buClr>
              <a:buFont typeface="Arial"/>
              <a:buChar char="•"/>
            </a:pPr>
            <a:r>
              <a:rPr sz="1400" b="0" i="0">
                <a:solidFill>
                  <a:srgbClr val="334155"/>
                </a:solidFill>
                <a:latin typeface="Calibri"/>
              </a:rPr>
              <a:t>Low glucose raises heart rate and lowers HRV; short sleep raises next-day insulin resistance</a:t>
            </a:r>
          </a:p>
          <a:p>
            <a:pPr algn="l" marL="219456" indent="-219456">
              <a:spcAft>
                <a:spcPts val="200"/>
              </a:spcAft>
              <a:buClr>
                <a:srgbClr val="0F766E"/>
              </a:buClr>
              <a:buFont typeface="Arial"/>
              <a:buChar char="•"/>
            </a:pPr>
            <a:r>
              <a:rPr sz="1400" b="0" i="0">
                <a:solidFill>
                  <a:srgbClr val="334155"/>
                </a:solidFill>
                <a:latin typeface="Calibri"/>
              </a:rPr>
              <a:t>TCF7L2 risk alleles raise post-meal peaks; eGFR &lt;60 slows insulin clearance (no persona is below 60, so not exercised)</a:t>
            </a:r>
          </a:p>
        </p:txBody>
      </p:sp>
      <p:sp>
        <p:nvSpPr>
          <p:cNvPr id="8" name="TextBox 7"/>
          <p:cNvSpPr txBox="1"/>
          <p:nvPr/>
        </p:nvSpPr>
        <p:spPr>
          <a:xfrm>
            <a:off x="7635240" y="4800600"/>
            <a:ext cx="3886200" cy="1463040"/>
          </a:xfrm>
          <a:prstGeom prst="rect">
            <a:avLst/>
          </a:prstGeom>
          <a:noFill/>
        </p:spPr>
        <p:txBody>
          <a:bodyPr wrap="square" lIns="36576" rIns="36576" tIns="36576" bIns="36576" anchor="t">
            <a:noAutofit/>
          </a:bodyPr>
          <a:lstStyle/>
          <a:p>
            <a:pPr algn="l">
              <a:spcAft>
                <a:spcPts val="400"/>
              </a:spcAft>
            </a:pPr>
            <a:r>
              <a:rPr sz="1600" b="1" i="0">
                <a:solidFill>
                  <a:srgbClr val="B45309"/>
                </a:solidFill>
                <a:latin typeface="Calibri"/>
              </a:rPr>
              <a:t>Caveat</a:t>
            </a:r>
          </a:p>
          <a:p>
            <a:pPr algn="l">
              <a:spcAft>
                <a:spcPts val="200"/>
              </a:spcAft>
            </a:pPr>
            <a:r>
              <a:rPr sz="1400" b="0" i="0">
                <a:solidFill>
                  <a:srgbClr val="334155"/>
                </a:solidFill>
                <a:latin typeface="Calibri"/>
              </a:rPr>
              <a:t>Parameters are illustrative and not calibrated to any dataset. Population ranges are loosely informed by published Indian literature. Meal, walk and sleep times vary day to day.</a:t>
            </a:r>
          </a:p>
        </p:txBody>
      </p:sp>
      <p:sp>
        <p:nvSpPr>
          <p:cNvPr id="9"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data/synthetic_*.csv, models/metrics.json  ·  Synthetic data only · research prototype, not a medical device · not for dosing decisions</a:t>
            </a:r>
          </a:p>
        </p:txBody>
      </p:sp>
      <p:sp>
        <p:nvSpPr>
          <p:cNvPr id="10"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MODEL</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Two gradient-boosted tree models on 34 fused features</a:t>
            </a:r>
          </a:p>
        </p:txBody>
      </p:sp>
      <p:sp>
        <p:nvSpPr>
          <p:cNvPr id="4" name="TextBox 3"/>
          <p:cNvSpPr txBox="1"/>
          <p:nvPr/>
        </p:nvSpPr>
        <p:spPr>
          <a:xfrm>
            <a:off x="548640" y="1645920"/>
            <a:ext cx="5486400" cy="411480"/>
          </a:xfrm>
          <a:prstGeom prst="rect">
            <a:avLst/>
          </a:prstGeom>
          <a:noFill/>
        </p:spPr>
        <p:txBody>
          <a:bodyPr wrap="square" lIns="36576" rIns="36576" tIns="36576" bIns="36576" anchor="t">
            <a:noAutofit/>
          </a:bodyPr>
          <a:lstStyle/>
          <a:p>
            <a:pPr algn="l">
              <a:spcAft>
                <a:spcPts val="400"/>
              </a:spcAft>
            </a:pPr>
            <a:r>
              <a:rPr sz="1800" b="1" i="0">
                <a:solidFill>
                  <a:srgbClr val="0F172A"/>
                </a:solidFill>
                <a:latin typeface="Calibri"/>
              </a:rPr>
              <a:t>34 features = 18 wearable + 16 EHR</a:t>
            </a:r>
          </a:p>
        </p:txBody>
      </p:sp>
      <p:sp>
        <p:nvSpPr>
          <p:cNvPr id="5" name="TextBox 4"/>
          <p:cNvSpPr txBox="1"/>
          <p:nvPr/>
        </p:nvSpPr>
        <p:spPr>
          <a:xfrm>
            <a:off x="548640" y="2029968"/>
            <a:ext cx="5486400" cy="365760"/>
          </a:xfrm>
          <a:prstGeom prst="rect">
            <a:avLst/>
          </a:prstGeom>
          <a:noFill/>
        </p:spPr>
        <p:txBody>
          <a:bodyPr wrap="square" lIns="36576" rIns="36576" tIns="36576" bIns="36576" anchor="t">
            <a:noAutofit/>
          </a:bodyPr>
          <a:lstStyle/>
          <a:p>
            <a:pPr algn="l">
              <a:spcAft>
                <a:spcPts val="400"/>
              </a:spcAft>
            </a:pPr>
            <a:r>
              <a:rPr sz="1400" b="0" i="0">
                <a:solidFill>
                  <a:srgbClr val="64748B"/>
                </a:solidFill>
                <a:latin typeface="Calibri"/>
              </a:rPr>
              <a:t>All computed from the current and past windows only</a:t>
            </a:r>
          </a:p>
        </p:txBody>
      </p:sp>
      <p:sp>
        <p:nvSpPr>
          <p:cNvPr id="6" name="Oval 5"/>
          <p:cNvSpPr/>
          <p:nvPr/>
        </p:nvSpPr>
        <p:spPr>
          <a:xfrm>
            <a:off x="594360" y="2532888"/>
            <a:ext cx="457200" cy="45720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600" b="1" i="0">
                <a:solidFill>
                  <a:srgbClr val="FFFFFF"/>
                </a:solidFill>
                <a:latin typeface="Calibri"/>
              </a:rPr>
              <a:t>5</a:t>
            </a:r>
          </a:p>
        </p:txBody>
      </p:sp>
      <p:sp>
        <p:nvSpPr>
          <p:cNvPr id="7" name="TextBox 6"/>
          <p:cNvSpPr txBox="1"/>
          <p:nvPr/>
        </p:nvSpPr>
        <p:spPr>
          <a:xfrm>
            <a:off x="1188720" y="2487168"/>
            <a:ext cx="4846320" cy="566928"/>
          </a:xfrm>
          <a:prstGeom prst="rect">
            <a:avLst/>
          </a:prstGeom>
          <a:noFill/>
        </p:spPr>
        <p:txBody>
          <a:bodyPr wrap="square" lIns="36576" rIns="36576" tIns="36576" bIns="36576" anchor="t">
            <a:noAutofit/>
          </a:bodyPr>
          <a:lstStyle/>
          <a:p>
            <a:pPr algn="l">
              <a:spcAft>
                <a:spcPts val="0"/>
              </a:spcAft>
            </a:pPr>
            <a:r>
              <a:rPr sz="1500" b="1" i="0">
                <a:solidFill>
                  <a:srgbClr val="1E293B"/>
                </a:solidFill>
                <a:latin typeface="Calibri"/>
              </a:rPr>
              <a:t>CGM  </a:t>
            </a:r>
            <a:r>
              <a:rPr sz="1500" b="0" i="0">
                <a:solidFill>
                  <a:srgbClr val="334155"/>
                </a:solidFill>
                <a:latin typeface="Calibri"/>
              </a:rPr>
              <a:t>current glucose, change over 15 and 30 min, 1 h mean and SD</a:t>
            </a:r>
          </a:p>
        </p:txBody>
      </p:sp>
      <p:sp>
        <p:nvSpPr>
          <p:cNvPr id="8" name="Oval 7"/>
          <p:cNvSpPr/>
          <p:nvPr/>
        </p:nvSpPr>
        <p:spPr>
          <a:xfrm>
            <a:off x="594360" y="3136392"/>
            <a:ext cx="457200" cy="45720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600" b="1" i="0">
                <a:solidFill>
                  <a:srgbClr val="FFFFFF"/>
                </a:solidFill>
                <a:latin typeface="Calibri"/>
              </a:rPr>
              <a:t>4</a:t>
            </a:r>
          </a:p>
        </p:txBody>
      </p:sp>
      <p:sp>
        <p:nvSpPr>
          <p:cNvPr id="9" name="TextBox 8"/>
          <p:cNvSpPr txBox="1"/>
          <p:nvPr/>
        </p:nvSpPr>
        <p:spPr>
          <a:xfrm>
            <a:off x="1188720" y="3090672"/>
            <a:ext cx="4846320" cy="566928"/>
          </a:xfrm>
          <a:prstGeom prst="rect">
            <a:avLst/>
          </a:prstGeom>
          <a:noFill/>
        </p:spPr>
        <p:txBody>
          <a:bodyPr wrap="square" lIns="36576" rIns="36576" tIns="36576" bIns="36576" anchor="t">
            <a:noAutofit/>
          </a:bodyPr>
          <a:lstStyle/>
          <a:p>
            <a:pPr algn="l">
              <a:spcAft>
                <a:spcPts val="0"/>
              </a:spcAft>
            </a:pPr>
            <a:r>
              <a:rPr sz="1500" b="1" i="0">
                <a:solidFill>
                  <a:srgbClr val="1E293B"/>
                </a:solidFill>
                <a:latin typeface="Calibri"/>
              </a:rPr>
              <a:t>Heart  </a:t>
            </a:r>
            <a:r>
              <a:rPr sz="1500" b="0" i="0">
                <a:solidFill>
                  <a:srgbClr val="334155"/>
                </a:solidFill>
                <a:latin typeface="Calibri"/>
              </a:rPr>
              <a:t>heart rate and HRV, now and 1 h means</a:t>
            </a:r>
          </a:p>
        </p:txBody>
      </p:sp>
      <p:sp>
        <p:nvSpPr>
          <p:cNvPr id="10" name="Oval 9"/>
          <p:cNvSpPr/>
          <p:nvPr/>
        </p:nvSpPr>
        <p:spPr>
          <a:xfrm>
            <a:off x="594360" y="3739896"/>
            <a:ext cx="457200" cy="45720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600" b="1" i="0">
                <a:solidFill>
                  <a:srgbClr val="FFFFFF"/>
                </a:solidFill>
                <a:latin typeface="Calibri"/>
              </a:rPr>
              <a:t>3</a:t>
            </a:r>
          </a:p>
        </p:txBody>
      </p:sp>
      <p:sp>
        <p:nvSpPr>
          <p:cNvPr id="11" name="TextBox 10"/>
          <p:cNvSpPr txBox="1"/>
          <p:nvPr/>
        </p:nvSpPr>
        <p:spPr>
          <a:xfrm>
            <a:off x="1188720" y="3694176"/>
            <a:ext cx="4846320" cy="566928"/>
          </a:xfrm>
          <a:prstGeom prst="rect">
            <a:avLst/>
          </a:prstGeom>
          <a:noFill/>
        </p:spPr>
        <p:txBody>
          <a:bodyPr wrap="square" lIns="36576" rIns="36576" tIns="36576" bIns="36576" anchor="t">
            <a:noAutofit/>
          </a:bodyPr>
          <a:lstStyle/>
          <a:p>
            <a:pPr algn="l">
              <a:spcAft>
                <a:spcPts val="0"/>
              </a:spcAft>
            </a:pPr>
            <a:r>
              <a:rPr sz="1500" b="1" i="0">
                <a:solidFill>
                  <a:srgbClr val="1E293B"/>
                </a:solidFill>
                <a:latin typeface="Calibri"/>
              </a:rPr>
              <a:t>Activity  </a:t>
            </a:r>
            <a:r>
              <a:rPr sz="1500" b="0" i="0">
                <a:solidFill>
                  <a:srgbClr val="334155"/>
                </a:solidFill>
                <a:latin typeface="Calibri"/>
              </a:rPr>
              <a:t>steps in the last 15 min, 1 h and 2 h</a:t>
            </a:r>
          </a:p>
        </p:txBody>
      </p:sp>
      <p:sp>
        <p:nvSpPr>
          <p:cNvPr id="12" name="Oval 11"/>
          <p:cNvSpPr/>
          <p:nvPr/>
        </p:nvSpPr>
        <p:spPr>
          <a:xfrm>
            <a:off x="594360" y="4343400"/>
            <a:ext cx="457200" cy="45720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600" b="1" i="0">
                <a:solidFill>
                  <a:srgbClr val="FFFFFF"/>
                </a:solidFill>
                <a:latin typeface="Calibri"/>
              </a:rPr>
              <a:t>4</a:t>
            </a:r>
          </a:p>
        </p:txBody>
      </p:sp>
      <p:sp>
        <p:nvSpPr>
          <p:cNvPr id="13" name="TextBox 12"/>
          <p:cNvSpPr txBox="1"/>
          <p:nvPr/>
        </p:nvSpPr>
        <p:spPr>
          <a:xfrm>
            <a:off x="1188720" y="4297680"/>
            <a:ext cx="4846320" cy="566928"/>
          </a:xfrm>
          <a:prstGeom prst="rect">
            <a:avLst/>
          </a:prstGeom>
          <a:noFill/>
        </p:spPr>
        <p:txBody>
          <a:bodyPr wrap="square" lIns="36576" rIns="36576" tIns="36576" bIns="36576" anchor="t">
            <a:noAutofit/>
          </a:bodyPr>
          <a:lstStyle/>
          <a:p>
            <a:pPr algn="l">
              <a:spcAft>
                <a:spcPts val="0"/>
              </a:spcAft>
            </a:pPr>
            <a:r>
              <a:rPr sz="1500" b="1" i="0">
                <a:solidFill>
                  <a:srgbClr val="1E293B"/>
                </a:solidFill>
                <a:latin typeface="Calibri"/>
              </a:rPr>
              <a:t>Meals, insulin  </a:t>
            </a:r>
            <a:r>
              <a:rPr sz="1500" b="0" i="0">
                <a:solidFill>
                  <a:srgbClr val="334155"/>
                </a:solidFill>
                <a:latin typeface="Calibri"/>
              </a:rPr>
              <a:t>carbohydrates and insulin units, now and 2 h sums</a:t>
            </a:r>
          </a:p>
        </p:txBody>
      </p:sp>
      <p:sp>
        <p:nvSpPr>
          <p:cNvPr id="14" name="Oval 13"/>
          <p:cNvSpPr/>
          <p:nvPr/>
        </p:nvSpPr>
        <p:spPr>
          <a:xfrm>
            <a:off x="594360" y="4946904"/>
            <a:ext cx="457200" cy="45720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600" b="1" i="0">
                <a:solidFill>
                  <a:srgbClr val="FFFFFF"/>
                </a:solidFill>
                <a:latin typeface="Calibri"/>
              </a:rPr>
              <a:t>2</a:t>
            </a:r>
          </a:p>
        </p:txBody>
      </p:sp>
      <p:sp>
        <p:nvSpPr>
          <p:cNvPr id="15" name="TextBox 14"/>
          <p:cNvSpPr txBox="1"/>
          <p:nvPr/>
        </p:nvSpPr>
        <p:spPr>
          <a:xfrm>
            <a:off x="1188720" y="4901184"/>
            <a:ext cx="4846320" cy="566928"/>
          </a:xfrm>
          <a:prstGeom prst="rect">
            <a:avLst/>
          </a:prstGeom>
          <a:noFill/>
        </p:spPr>
        <p:txBody>
          <a:bodyPr wrap="square" lIns="36576" rIns="36576" tIns="36576" bIns="36576" anchor="t">
            <a:noAutofit/>
          </a:bodyPr>
          <a:lstStyle/>
          <a:p>
            <a:pPr algn="l">
              <a:spcAft>
                <a:spcPts val="0"/>
              </a:spcAft>
            </a:pPr>
            <a:r>
              <a:rPr sz="1500" b="1" i="0">
                <a:solidFill>
                  <a:srgbClr val="1E293B"/>
                </a:solidFill>
                <a:latin typeface="Calibri"/>
              </a:rPr>
              <a:t>Context  </a:t>
            </a:r>
            <a:r>
              <a:rPr sz="1500" b="0" i="0">
                <a:solidFill>
                  <a:srgbClr val="334155"/>
                </a:solidFill>
                <a:latin typeface="Calibri"/>
              </a:rPr>
              <a:t>hour of day, sleep stage</a:t>
            </a:r>
          </a:p>
        </p:txBody>
      </p:sp>
      <p:sp>
        <p:nvSpPr>
          <p:cNvPr id="16" name="Oval 15"/>
          <p:cNvSpPr/>
          <p:nvPr/>
        </p:nvSpPr>
        <p:spPr>
          <a:xfrm>
            <a:off x="594360" y="5550408"/>
            <a:ext cx="457200" cy="457200"/>
          </a:xfrm>
          <a:prstGeom prst="ellipse">
            <a:avLst/>
          </a:prstGeom>
          <a:solidFill>
            <a:srgbClr val="0F172A"/>
          </a:solidFill>
          <a:ln>
            <a:noFill/>
          </a:ln>
          <a:effectLst/>
        </p:spPr>
        <p:txBody>
          <a:bodyPr rtlCol="0" anchor="ctr" wrap="square" lIns="0" rIns="0" tIns="0" bIns="0">
            <a:noAutofit/>
          </a:bodyPr>
          <a:lstStyle/>
          <a:p>
            <a:pPr algn="ctr">
              <a:spcAft>
                <a:spcPts val="0"/>
              </a:spcAft>
            </a:pPr>
            <a:r>
              <a:rPr sz="1600" b="1" i="0">
                <a:solidFill>
                  <a:srgbClr val="FFFFFF"/>
                </a:solidFill>
                <a:latin typeface="Calibri"/>
              </a:rPr>
              <a:t>16</a:t>
            </a:r>
          </a:p>
        </p:txBody>
      </p:sp>
      <p:sp>
        <p:nvSpPr>
          <p:cNvPr id="17" name="TextBox 16"/>
          <p:cNvSpPr txBox="1"/>
          <p:nvPr/>
        </p:nvSpPr>
        <p:spPr>
          <a:xfrm>
            <a:off x="1188720" y="5504688"/>
            <a:ext cx="4846320" cy="896112"/>
          </a:xfrm>
          <a:prstGeom prst="rect">
            <a:avLst/>
          </a:prstGeom>
          <a:noFill/>
        </p:spPr>
        <p:txBody>
          <a:bodyPr wrap="square" lIns="36576" rIns="36576" tIns="36576" bIns="36576" anchor="t">
            <a:noAutofit/>
          </a:bodyPr>
          <a:lstStyle/>
          <a:p>
            <a:pPr algn="l">
              <a:spcAft>
                <a:spcPts val="0"/>
              </a:spcAft>
            </a:pPr>
            <a:r>
              <a:rPr sz="1500" b="1" i="0">
                <a:solidFill>
                  <a:srgbClr val="1E293B"/>
                </a:solidFill>
                <a:latin typeface="Calibri"/>
              </a:rPr>
              <a:t>EHR  </a:t>
            </a:r>
            <a:r>
              <a:rPr sz="1500" b="0" i="0">
                <a:solidFill>
                  <a:srgbClr val="334155"/>
                </a:solidFill>
                <a:latin typeface="Calibri"/>
              </a:rPr>
              <a:t>age, sex, BMI, diabetes duration, HbA1c, fasting glucose, BP, eGFR, diet, medication, insulin regimen, risk tier, prior hypos, family history, TCF7L2</a:t>
            </a:r>
          </a:p>
        </p:txBody>
      </p:sp>
      <p:sp>
        <p:nvSpPr>
          <p:cNvPr id="18" name="Rounded Rectangle 17"/>
          <p:cNvSpPr/>
          <p:nvPr/>
        </p:nvSpPr>
        <p:spPr>
          <a:xfrm>
            <a:off x="6263640" y="1645920"/>
            <a:ext cx="5394960" cy="1783080"/>
          </a:xfrm>
          <a:prstGeom prst="roundRect">
            <a:avLst>
              <a:gd name="adj" fmla="val 5000"/>
            </a:avLst>
          </a:prstGeom>
          <a:solidFill>
            <a:srgbClr val="F1F5F9"/>
          </a:solidFill>
          <a:ln>
            <a:noFill/>
          </a:ln>
          <a:effectLst/>
        </p:spPr>
        <p:txBody>
          <a:bodyPr rtlCol="0" anchor="t" wrap="square" lIns="164592" rIns="164592">
            <a:noAutofit/>
          </a:bodyPr>
          <a:lstStyle/>
          <a:p>
            <a:pPr algn="l">
              <a:spcAft>
                <a:spcPts val="400"/>
              </a:spcAft>
            </a:pPr>
            <a:r>
              <a:rPr sz="1700" b="1" i="0">
                <a:solidFill>
                  <a:srgbClr val="0F766E"/>
                </a:solidFill>
                <a:latin typeface="Calibri"/>
              </a:rPr>
              <a:t>Two scikit-learn HistGradientBoosting models</a:t>
            </a:r>
          </a:p>
          <a:p>
            <a:pPr algn="l" marL="219456" indent="-219456">
              <a:spcAft>
                <a:spcPts val="300"/>
              </a:spcAft>
              <a:buClr>
                <a:srgbClr val="0F766E"/>
              </a:buClr>
              <a:buFont typeface="Arial"/>
              <a:buChar char="•"/>
            </a:pPr>
            <a:r>
              <a:rPr sz="1500" b="0" i="0">
                <a:solidFill>
                  <a:srgbClr val="334155"/>
                </a:solidFill>
                <a:latin typeface="Calibri"/>
              </a:rPr>
              <a:t>Classifier: 3 classes (no event / &lt;70 / &gt;250 in the next 2 h), class_weight="balanced" because events are rare</a:t>
            </a:r>
          </a:p>
          <a:p>
            <a:pPr algn="l" marL="219456" indent="-219456">
              <a:spcAft>
                <a:spcPts val="300"/>
              </a:spcAft>
              <a:buClr>
                <a:srgbClr val="0F766E"/>
              </a:buClr>
              <a:buFont typeface="Arial"/>
              <a:buChar char="•"/>
            </a:pPr>
            <a:r>
              <a:rPr sz="1500" b="0" i="0">
                <a:solidFill>
                  <a:srgbClr val="334155"/>
                </a:solidFill>
                <a:latin typeface="Calibri"/>
              </a:rPr>
              <a:t>Regressor: CGM glucose exactly 2 h ahead</a:t>
            </a:r>
          </a:p>
          <a:p>
            <a:pPr algn="l" marL="219456" indent="-219456">
              <a:spcAft>
                <a:spcPts val="300"/>
              </a:spcAft>
              <a:buClr>
                <a:srgbClr val="0F766E"/>
              </a:buClr>
              <a:buFont typeface="Arial"/>
              <a:buChar char="•"/>
            </a:pPr>
            <a:r>
              <a:rPr sz="1500" b="0" i="0">
                <a:solidFill>
                  <a:srgbClr val="334155"/>
                </a:solidFill>
                <a:latin typeface="Calibri"/>
              </a:rPr>
              <a:t>Max depth 6, learning rate 0.08, up to 150 iterations, native categorical splits</a:t>
            </a:r>
          </a:p>
        </p:txBody>
      </p:sp>
      <p:sp>
        <p:nvSpPr>
          <p:cNvPr id="19" name="Rounded Rectangle 18"/>
          <p:cNvSpPr/>
          <p:nvPr/>
        </p:nvSpPr>
        <p:spPr>
          <a:xfrm>
            <a:off x="6263640" y="3538728"/>
            <a:ext cx="5394960" cy="960120"/>
          </a:xfrm>
          <a:prstGeom prst="roundRect">
            <a:avLst>
              <a:gd name="adj" fmla="val 5000"/>
            </a:avLst>
          </a:prstGeom>
          <a:solidFill>
            <a:srgbClr val="F1F5F9"/>
          </a:solidFill>
          <a:ln>
            <a:noFill/>
          </a:ln>
          <a:effectLst/>
        </p:spPr>
        <p:txBody>
          <a:bodyPr rtlCol="0" anchor="t" wrap="square" lIns="164592" rIns="164592">
            <a:noAutofit/>
          </a:bodyPr>
          <a:lstStyle/>
          <a:p>
            <a:pPr algn="l">
              <a:spcAft>
                <a:spcPts val="400"/>
              </a:spcAft>
            </a:pPr>
            <a:r>
              <a:rPr sz="1700" b="1" i="0">
                <a:solidFill>
                  <a:srgbClr val="0F172A"/>
                </a:solidFill>
                <a:latin typeface="Calibri"/>
              </a:rPr>
              <a:t>Split by patient: tested on unseen people</a:t>
            </a:r>
          </a:p>
          <a:p>
            <a:pPr algn="l" marL="219456" indent="-219456">
              <a:spcAft>
                <a:spcPts val="300"/>
              </a:spcAft>
              <a:buClr>
                <a:srgbClr val="0F172A"/>
              </a:buClr>
              <a:buFont typeface="Arial"/>
              <a:buChar char="•"/>
            </a:pPr>
            <a:r>
              <a:rPr sz="1500" b="0" i="0">
                <a:solidFill>
                  <a:srgbClr val="334155"/>
                </a:solidFill>
                <a:latin typeface="Calibri"/>
              </a:rPr>
              <a:t>150 training / 50 held-out patients, none in both; held-out = 33,200 windows never used for training or thresholds</a:t>
            </a:r>
          </a:p>
        </p:txBody>
      </p:sp>
      <p:sp>
        <p:nvSpPr>
          <p:cNvPr id="20" name="Rounded Rectangle 19"/>
          <p:cNvSpPr/>
          <p:nvPr/>
        </p:nvSpPr>
        <p:spPr>
          <a:xfrm>
            <a:off x="6263640" y="4608576"/>
            <a:ext cx="5394960" cy="1691640"/>
          </a:xfrm>
          <a:prstGeom prst="roundRect">
            <a:avLst>
              <a:gd name="adj" fmla="val 5000"/>
            </a:avLst>
          </a:prstGeom>
          <a:solidFill>
            <a:srgbClr val="F1F5F9"/>
          </a:solidFill>
          <a:ln>
            <a:noFill/>
          </a:ln>
          <a:effectLst/>
        </p:spPr>
        <p:txBody>
          <a:bodyPr rtlCol="0" anchor="t" wrap="square" lIns="164592" rIns="164592">
            <a:noAutofit/>
          </a:bodyPr>
          <a:lstStyle/>
          <a:p>
            <a:pPr algn="l">
              <a:spcAft>
                <a:spcPts val="400"/>
              </a:spcAft>
            </a:pPr>
            <a:r>
              <a:rPr sz="1700" b="1" i="0">
                <a:solidFill>
                  <a:srgbClr val="B91C1C"/>
                </a:solidFill>
                <a:latin typeface="Calibri"/>
              </a:rPr>
              <a:t>Alert rule</a:t>
            </a:r>
          </a:p>
          <a:p>
            <a:pPr algn="l" marL="219456" indent="-219456">
              <a:spcAft>
                <a:spcPts val="300"/>
              </a:spcAft>
              <a:buClr>
                <a:srgbClr val="B91C1C"/>
              </a:buClr>
              <a:buFont typeface="Arial"/>
              <a:buChar char="•"/>
            </a:pPr>
            <a:r>
              <a:rPr sz="1500" b="0" i="0">
                <a:solidFill>
                  <a:srgbClr val="334155"/>
                </a:solidFill>
                <a:latin typeface="Calibri"/>
              </a:rPr>
              <a:t>Hypo alert if score ≥ 0.51, else hyper alert if score ≥ 0.52; thresholds maximise F2 on 5-fold patient-grouped CV of the training patients</a:t>
            </a:r>
          </a:p>
          <a:p>
            <a:pPr algn="l" marL="219456" indent="-219456">
              <a:spcAft>
                <a:spcPts val="300"/>
              </a:spcAft>
              <a:buClr>
                <a:srgbClr val="B91C1C"/>
              </a:buClr>
              <a:buFont typeface="Arial"/>
              <a:buChar char="•"/>
            </a:pPr>
            <a:r>
              <a:rPr sz="1500" b="0" i="0">
                <a:solidFill>
                  <a:srgbClr val="334155"/>
                </a:solidFill>
                <a:latin typeface="Calibri"/>
              </a:rPr>
              <a:t>Scores are uncalibrated risk scores, not probabilities. About 15 ms per window on CPU</a:t>
            </a:r>
          </a:p>
        </p:txBody>
      </p:sp>
      <p:sp>
        <p:nvSpPr>
          <p:cNvPr id="21"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models/train_fusion_model.py, models/metrics.json  ·  Synthetic data only · research prototype, not a medical device · not for dosing decisions</a:t>
            </a:r>
          </a:p>
        </p:txBody>
      </p:sp>
      <p:sp>
        <p:nvSpPr>
          <p:cNvPr id="22"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RESULTS · 2-HOUR GLUCOSE FORECAST</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On 50 unseen patients the 2-hour forecast error is 11.0 mg/dL, 1.9× lower than assuming glucose stays the same</a:t>
            </a:r>
          </a:p>
        </p:txBody>
      </p:sp>
      <p:sp>
        <p:nvSpPr>
          <p:cNvPr id="4" name="TextBox 3"/>
          <p:cNvSpPr txBox="1"/>
          <p:nvPr/>
        </p:nvSpPr>
        <p:spPr>
          <a:xfrm>
            <a:off x="548640" y="1645920"/>
            <a:ext cx="5669280" cy="411480"/>
          </a:xfrm>
          <a:prstGeom prst="rect">
            <a:avLst/>
          </a:prstGeom>
          <a:noFill/>
        </p:spPr>
        <p:txBody>
          <a:bodyPr wrap="square" lIns="36576" rIns="36576" tIns="36576" bIns="36576" anchor="t">
            <a:noAutofit/>
          </a:bodyPr>
          <a:lstStyle/>
          <a:p>
            <a:pPr algn="l">
              <a:spcAft>
                <a:spcPts val="400"/>
              </a:spcAft>
            </a:pPr>
            <a:r>
              <a:rPr sz="1600" b="1" i="0">
                <a:solidFill>
                  <a:srgbClr val="0F172A"/>
                </a:solidFill>
                <a:latin typeface="Calibri"/>
              </a:rPr>
              <a:t>Mean absolute error at +2 h (mg/dL, lower is better)</a:t>
            </a:r>
          </a:p>
        </p:txBody>
      </p:sp>
      <p:graphicFrame>
        <p:nvGraphicFramePr>
          <p:cNvPr id="5" name="Chart 4"/>
          <p:cNvGraphicFramePr>
            <a:graphicFrameLocks noGrp="1"/>
          </p:cNvGraphicFramePr>
          <p:nvPr/>
        </p:nvGraphicFramePr>
        <p:xfrm>
          <a:off x="457200" y="2057400"/>
          <a:ext cx="5852160" cy="3017520"/>
        </p:xfrm>
        <a:graphic>
          <a:graphicData uri="http://schemas.openxmlformats.org/drawingml/2006/chart">
            <c:chart xmlns:c="http://schemas.openxmlformats.org/drawingml/2006/chart" r:id="rId2"/>
          </a:graphicData>
        </a:graphic>
      </p:graphicFrame>
      <p:sp>
        <p:nvSpPr>
          <p:cNvPr id="6" name="TextBox 5"/>
          <p:cNvSpPr txBox="1"/>
          <p:nvPr/>
        </p:nvSpPr>
        <p:spPr>
          <a:xfrm>
            <a:off x="548640" y="5166360"/>
            <a:ext cx="5669280" cy="1097280"/>
          </a:xfrm>
          <a:prstGeom prst="rect">
            <a:avLst/>
          </a:prstGeom>
          <a:noFill/>
        </p:spPr>
        <p:txBody>
          <a:bodyPr wrap="square" lIns="36576" rIns="36576" tIns="36576" bIns="36576" anchor="t">
            <a:noAutofit/>
          </a:bodyPr>
          <a:lstStyle/>
          <a:p>
            <a:pPr algn="l">
              <a:spcAft>
                <a:spcPts val="400"/>
              </a:spcAft>
            </a:pPr>
            <a:r>
              <a:rPr sz="1500" b="0" i="0">
                <a:solidFill>
                  <a:srgbClr val="334155"/>
                </a:solidFill>
                <a:latin typeface="Calibri"/>
              </a:rPr>
              <a:t>R² 0.803 vs 0.428 for persistence. 5-fold patient-grouped CV over all 200 patients: MAE 11.08 mg/dL, R² 0.806.</a:t>
            </a:r>
          </a:p>
        </p:txBody>
      </p:sp>
      <p:sp>
        <p:nvSpPr>
          <p:cNvPr id="7" name="TextBox 6"/>
          <p:cNvSpPr txBox="1"/>
          <p:nvPr/>
        </p:nvSpPr>
        <p:spPr>
          <a:xfrm>
            <a:off x="6583680" y="1645920"/>
            <a:ext cx="5074920" cy="411480"/>
          </a:xfrm>
          <a:prstGeom prst="rect">
            <a:avLst/>
          </a:prstGeom>
          <a:noFill/>
        </p:spPr>
        <p:txBody>
          <a:bodyPr wrap="square" lIns="36576" rIns="36576" tIns="36576" bIns="36576" anchor="t">
            <a:noAutofit/>
          </a:bodyPr>
          <a:lstStyle/>
          <a:p>
            <a:pPr algn="l">
              <a:spcAft>
                <a:spcPts val="400"/>
              </a:spcAft>
            </a:pPr>
            <a:r>
              <a:rPr sz="1600" b="1" i="0">
                <a:solidFill>
                  <a:srgbClr val="0F172A"/>
                </a:solidFill>
                <a:latin typeface="Calibri"/>
              </a:rPr>
              <a:t>Clarke error grid zones (% of forecasts)</a:t>
            </a:r>
          </a:p>
        </p:txBody>
      </p:sp>
      <p:graphicFrame>
        <p:nvGraphicFramePr>
          <p:cNvPr id="8" name="Table 7"/>
          <p:cNvGraphicFramePr>
            <a:graphicFrameLocks noGrp="1"/>
          </p:cNvGraphicFramePr>
          <p:nvPr/>
        </p:nvGraphicFramePr>
        <p:xfrm>
          <a:off x="6583680" y="2103120"/>
          <a:ext cx="5074920" cy="1828800"/>
        </p:xfrm>
        <a:graphic>
          <a:graphicData uri="http://schemas.openxmlformats.org/drawingml/2006/table">
            <a:tbl>
              <a:tblPr firstRow="1">
                <a:tableStyleId>{5C22544A-7EE6-4342-B048-85BDC9FD1C3A}</a:tableStyleId>
              </a:tblPr>
              <a:tblGrid>
                <a:gridCol w="1600200"/>
                <a:gridCol w="731520"/>
                <a:gridCol w="685800"/>
                <a:gridCol w="685800"/>
                <a:gridCol w="685800"/>
                <a:gridCol w="685800"/>
              </a:tblGrid>
              <a:tr h="457200">
                <a:tc>
                  <a:txBody>
                    <a:bodyPr wrap="square"/>
                    <a:lstStyle/>
                    <a:p>
                      <a:pPr algn="l">
                        <a:spcAft>
                          <a:spcPts val="0"/>
                        </a:spcAft>
                      </a:pPr>
                      <a:r>
                        <a:rPr sz="1400" b="1" i="0">
                          <a:solidFill>
                            <a:srgbClr val="FFFFFF"/>
                          </a:solidFill>
                          <a:latin typeface="Calibri"/>
                        </a:rPr>
                        <a:t>Model</a:t>
                      </a:r>
                    </a:p>
                  </a:txBody>
                  <a:tcPr marL="73152" marR="73152" marT="27432" marB="27432" anchor="ctr">
                    <a:solidFill>
                      <a:srgbClr val="0F172A"/>
                    </a:solidFill>
                  </a:tcPr>
                </a:tc>
                <a:tc>
                  <a:txBody>
                    <a:bodyPr wrap="square"/>
                    <a:lstStyle/>
                    <a:p>
                      <a:pPr algn="r">
                        <a:spcAft>
                          <a:spcPts val="0"/>
                        </a:spcAft>
                      </a:pPr>
                      <a:r>
                        <a:rPr sz="1400" b="1" i="0">
                          <a:solidFill>
                            <a:srgbClr val="FFFFFF"/>
                          </a:solidFill>
                          <a:latin typeface="Calibri"/>
                        </a:rPr>
                        <a:t>A</a:t>
                      </a:r>
                    </a:p>
                  </a:txBody>
                  <a:tcPr marL="73152" marR="73152" marT="27432" marB="27432" anchor="ctr">
                    <a:solidFill>
                      <a:srgbClr val="0F172A"/>
                    </a:solidFill>
                  </a:tcPr>
                </a:tc>
                <a:tc>
                  <a:txBody>
                    <a:bodyPr wrap="square"/>
                    <a:lstStyle/>
                    <a:p>
                      <a:pPr algn="r">
                        <a:spcAft>
                          <a:spcPts val="0"/>
                        </a:spcAft>
                      </a:pPr>
                      <a:r>
                        <a:rPr sz="1400" b="1" i="0">
                          <a:solidFill>
                            <a:srgbClr val="FFFFFF"/>
                          </a:solidFill>
                          <a:latin typeface="Calibri"/>
                        </a:rPr>
                        <a:t>B</a:t>
                      </a:r>
                    </a:p>
                  </a:txBody>
                  <a:tcPr marL="73152" marR="73152" marT="27432" marB="27432" anchor="ctr">
                    <a:solidFill>
                      <a:srgbClr val="0F172A"/>
                    </a:solidFill>
                  </a:tcPr>
                </a:tc>
                <a:tc>
                  <a:txBody>
                    <a:bodyPr wrap="square"/>
                    <a:lstStyle/>
                    <a:p>
                      <a:pPr algn="r">
                        <a:spcAft>
                          <a:spcPts val="0"/>
                        </a:spcAft>
                      </a:pPr>
                      <a:r>
                        <a:rPr sz="1400" b="1" i="0">
                          <a:solidFill>
                            <a:srgbClr val="FFFFFF"/>
                          </a:solidFill>
                          <a:latin typeface="Calibri"/>
                        </a:rPr>
                        <a:t>C</a:t>
                      </a:r>
                    </a:p>
                  </a:txBody>
                  <a:tcPr marL="73152" marR="73152" marT="27432" marB="27432" anchor="ctr">
                    <a:solidFill>
                      <a:srgbClr val="0F172A"/>
                    </a:solidFill>
                  </a:tcPr>
                </a:tc>
                <a:tc>
                  <a:txBody>
                    <a:bodyPr wrap="square"/>
                    <a:lstStyle/>
                    <a:p>
                      <a:pPr algn="r">
                        <a:spcAft>
                          <a:spcPts val="0"/>
                        </a:spcAft>
                      </a:pPr>
                      <a:r>
                        <a:rPr sz="1400" b="1" i="0">
                          <a:solidFill>
                            <a:srgbClr val="FFFFFF"/>
                          </a:solidFill>
                          <a:latin typeface="Calibri"/>
                        </a:rPr>
                        <a:t>D</a:t>
                      </a:r>
                    </a:p>
                  </a:txBody>
                  <a:tcPr marL="73152" marR="73152" marT="27432" marB="27432" anchor="ctr">
                    <a:solidFill>
                      <a:srgbClr val="0F172A"/>
                    </a:solidFill>
                  </a:tcPr>
                </a:tc>
                <a:tc>
                  <a:txBody>
                    <a:bodyPr wrap="square"/>
                    <a:lstStyle/>
                    <a:p>
                      <a:pPr algn="r">
                        <a:spcAft>
                          <a:spcPts val="0"/>
                        </a:spcAft>
                      </a:pPr>
                      <a:r>
                        <a:rPr sz="1400" b="1" i="0">
                          <a:solidFill>
                            <a:srgbClr val="FFFFFF"/>
                          </a:solidFill>
                          <a:latin typeface="Calibri"/>
                        </a:rPr>
                        <a:t>E</a:t>
                      </a:r>
                    </a:p>
                  </a:txBody>
                  <a:tcPr marL="73152" marR="73152" marT="27432" marB="27432" anchor="ctr">
                    <a:solidFill>
                      <a:srgbClr val="0F172A"/>
                    </a:solidFill>
                  </a:tcPr>
                </a:tc>
              </a:tr>
              <a:tr h="457200">
                <a:tc>
                  <a:txBody>
                    <a:bodyPr wrap="square"/>
                    <a:lstStyle/>
                    <a:p>
                      <a:pPr algn="l">
                        <a:spcAft>
                          <a:spcPts val="0"/>
                        </a:spcAft>
                      </a:pPr>
                      <a:r>
                        <a:rPr sz="1400" b="1" i="0">
                          <a:solidFill>
                            <a:srgbClr val="1E293B"/>
                          </a:solidFill>
                          <a:latin typeface="Calibri"/>
                        </a:rPr>
                        <a:t>GlycoTwin</a:t>
                      </a:r>
                    </a:p>
                  </a:txBody>
                  <a:tcPr marL="73152" marR="73152" marT="27432" marB="27432" anchor="ctr">
                    <a:solidFill>
                      <a:srgbClr val="E6F4F1"/>
                    </a:solidFill>
                  </a:tcPr>
                </a:tc>
                <a:tc>
                  <a:txBody>
                    <a:bodyPr wrap="square"/>
                    <a:lstStyle/>
                    <a:p>
                      <a:pPr algn="r">
                        <a:spcAft>
                          <a:spcPts val="0"/>
                        </a:spcAft>
                      </a:pPr>
                      <a:r>
                        <a:rPr sz="1400" b="1" i="0">
                          <a:solidFill>
                            <a:srgbClr val="1E293B"/>
                          </a:solidFill>
                          <a:latin typeface="Calibri"/>
                        </a:rPr>
                        <a:t>91.8%</a:t>
                      </a:r>
                    </a:p>
                  </a:txBody>
                  <a:tcPr marL="73152" marR="73152" marT="27432" marB="27432" anchor="ctr">
                    <a:solidFill>
                      <a:srgbClr val="E6F4F1"/>
                    </a:solidFill>
                  </a:tcPr>
                </a:tc>
                <a:tc>
                  <a:txBody>
                    <a:bodyPr wrap="square"/>
                    <a:lstStyle/>
                    <a:p>
                      <a:pPr algn="r">
                        <a:spcAft>
                          <a:spcPts val="0"/>
                        </a:spcAft>
                      </a:pPr>
                      <a:r>
                        <a:rPr sz="1400" b="1" i="0">
                          <a:solidFill>
                            <a:srgbClr val="1E293B"/>
                          </a:solidFill>
                          <a:latin typeface="Calibri"/>
                        </a:rPr>
                        <a:t>7.6%</a:t>
                      </a:r>
                    </a:p>
                  </a:txBody>
                  <a:tcPr marL="73152" marR="73152" marT="27432" marB="27432" anchor="ctr">
                    <a:solidFill>
                      <a:srgbClr val="E6F4F1"/>
                    </a:solidFill>
                  </a:tcPr>
                </a:tc>
                <a:tc>
                  <a:txBody>
                    <a:bodyPr wrap="square"/>
                    <a:lstStyle/>
                    <a:p>
                      <a:pPr algn="r">
                        <a:spcAft>
                          <a:spcPts val="0"/>
                        </a:spcAft>
                      </a:pPr>
                      <a:r>
                        <a:rPr sz="1400" b="1" i="0">
                          <a:solidFill>
                            <a:srgbClr val="1E293B"/>
                          </a:solidFill>
                          <a:latin typeface="Calibri"/>
                        </a:rPr>
                        <a:t>0.0%</a:t>
                      </a:r>
                    </a:p>
                  </a:txBody>
                  <a:tcPr marL="73152" marR="73152" marT="27432" marB="27432" anchor="ctr">
                    <a:solidFill>
                      <a:srgbClr val="E6F4F1"/>
                    </a:solidFill>
                  </a:tcPr>
                </a:tc>
                <a:tc>
                  <a:txBody>
                    <a:bodyPr wrap="square"/>
                    <a:lstStyle/>
                    <a:p>
                      <a:pPr algn="r">
                        <a:spcAft>
                          <a:spcPts val="0"/>
                        </a:spcAft>
                      </a:pPr>
                      <a:r>
                        <a:rPr sz="1400" b="1" i="0">
                          <a:solidFill>
                            <a:srgbClr val="1E293B"/>
                          </a:solidFill>
                          <a:latin typeface="Calibri"/>
                        </a:rPr>
                        <a:t>0.6%</a:t>
                      </a:r>
                    </a:p>
                  </a:txBody>
                  <a:tcPr marL="73152" marR="73152" marT="27432" marB="27432" anchor="ctr">
                    <a:solidFill>
                      <a:srgbClr val="E6F4F1"/>
                    </a:solidFill>
                  </a:tcPr>
                </a:tc>
                <a:tc>
                  <a:txBody>
                    <a:bodyPr wrap="square"/>
                    <a:lstStyle/>
                    <a:p>
                      <a:pPr algn="r">
                        <a:spcAft>
                          <a:spcPts val="0"/>
                        </a:spcAft>
                      </a:pPr>
                      <a:r>
                        <a:rPr sz="1400" b="1" i="0">
                          <a:solidFill>
                            <a:srgbClr val="1E293B"/>
                          </a:solidFill>
                          <a:latin typeface="Calibri"/>
                        </a:rPr>
                        <a:t>0.0%</a:t>
                      </a:r>
                    </a:p>
                  </a:txBody>
                  <a:tcPr marL="73152" marR="73152" marT="27432" marB="27432" anchor="ctr">
                    <a:solidFill>
                      <a:srgbClr val="E6F4F1"/>
                    </a:solidFill>
                  </a:tcPr>
                </a:tc>
              </a:tr>
              <a:tr h="457200">
                <a:tc>
                  <a:txBody>
                    <a:bodyPr wrap="square"/>
                    <a:lstStyle/>
                    <a:p>
                      <a:pPr algn="l">
                        <a:spcAft>
                          <a:spcPts val="0"/>
                        </a:spcAft>
                      </a:pPr>
                      <a:r>
                        <a:rPr sz="1400" b="1" i="0">
                          <a:solidFill>
                            <a:srgbClr val="334155"/>
                          </a:solidFill>
                          <a:latin typeface="Calibri"/>
                        </a:rPr>
                        <a:t>Persistence</a:t>
                      </a:r>
                    </a:p>
                  </a:txBody>
                  <a:tcPr marL="73152" marR="73152" marT="27432" marB="27432" anchor="ctr">
                    <a:solidFill>
                      <a:srgbClr val="F1F5F9"/>
                    </a:solidFill>
                  </a:tcPr>
                </a:tc>
                <a:tc>
                  <a:txBody>
                    <a:bodyPr wrap="square"/>
                    <a:lstStyle/>
                    <a:p>
                      <a:pPr algn="r">
                        <a:spcAft>
                          <a:spcPts val="0"/>
                        </a:spcAft>
                      </a:pPr>
                      <a:r>
                        <a:rPr sz="1400" b="0" i="0">
                          <a:solidFill>
                            <a:srgbClr val="334155"/>
                          </a:solidFill>
                          <a:latin typeface="Calibri"/>
                        </a:rPr>
                        <a:t>79.1%</a:t>
                      </a:r>
                    </a:p>
                  </a:txBody>
                  <a:tcPr marL="73152" marR="73152" marT="27432" marB="27432" anchor="ctr">
                    <a:solidFill>
                      <a:srgbClr val="F1F5F9"/>
                    </a:solidFill>
                  </a:tcPr>
                </a:tc>
                <a:tc>
                  <a:txBody>
                    <a:bodyPr wrap="square"/>
                    <a:lstStyle/>
                    <a:p>
                      <a:pPr algn="r">
                        <a:spcAft>
                          <a:spcPts val="0"/>
                        </a:spcAft>
                      </a:pPr>
                      <a:r>
                        <a:rPr sz="1400" b="0" i="0">
                          <a:solidFill>
                            <a:srgbClr val="334155"/>
                          </a:solidFill>
                          <a:latin typeface="Calibri"/>
                        </a:rPr>
                        <a:t>19.7%</a:t>
                      </a:r>
                    </a:p>
                  </a:txBody>
                  <a:tcPr marL="73152" marR="73152" marT="27432" marB="27432" anchor="ctr">
                    <a:solidFill>
                      <a:srgbClr val="F1F5F9"/>
                    </a:solidFill>
                  </a:tcPr>
                </a:tc>
                <a:tc>
                  <a:txBody>
                    <a:bodyPr wrap="square"/>
                    <a:lstStyle/>
                    <a:p>
                      <a:pPr algn="r">
                        <a:spcAft>
                          <a:spcPts val="0"/>
                        </a:spcAft>
                      </a:pPr>
                      <a:r>
                        <a:rPr sz="1400" b="0" i="0">
                          <a:solidFill>
                            <a:srgbClr val="334155"/>
                          </a:solidFill>
                          <a:latin typeface="Calibri"/>
                        </a:rPr>
                        <a:t>0.0%</a:t>
                      </a:r>
                    </a:p>
                  </a:txBody>
                  <a:tcPr marL="73152" marR="73152" marT="27432" marB="27432" anchor="ctr">
                    <a:solidFill>
                      <a:srgbClr val="F1F5F9"/>
                    </a:solidFill>
                  </a:tcPr>
                </a:tc>
                <a:tc>
                  <a:txBody>
                    <a:bodyPr wrap="square"/>
                    <a:lstStyle/>
                    <a:p>
                      <a:pPr algn="r">
                        <a:spcAft>
                          <a:spcPts val="0"/>
                        </a:spcAft>
                      </a:pPr>
                      <a:r>
                        <a:rPr sz="1400" b="0" i="0">
                          <a:solidFill>
                            <a:srgbClr val="334155"/>
                          </a:solidFill>
                          <a:latin typeface="Calibri"/>
                        </a:rPr>
                        <a:t>1.2%</a:t>
                      </a:r>
                    </a:p>
                  </a:txBody>
                  <a:tcPr marL="73152" marR="73152" marT="27432" marB="27432" anchor="ctr">
                    <a:solidFill>
                      <a:srgbClr val="F1F5F9"/>
                    </a:solidFill>
                  </a:tcPr>
                </a:tc>
                <a:tc>
                  <a:txBody>
                    <a:bodyPr wrap="square"/>
                    <a:lstStyle/>
                    <a:p>
                      <a:pPr algn="r">
                        <a:spcAft>
                          <a:spcPts val="0"/>
                        </a:spcAft>
                      </a:pPr>
                      <a:r>
                        <a:rPr sz="1400" b="0" i="0">
                          <a:solidFill>
                            <a:srgbClr val="334155"/>
                          </a:solidFill>
                          <a:latin typeface="Calibri"/>
                        </a:rPr>
                        <a:t>0.0%</a:t>
                      </a:r>
                    </a:p>
                  </a:txBody>
                  <a:tcPr marL="73152" marR="73152" marT="27432" marB="27432" anchor="ctr">
                    <a:solidFill>
                      <a:srgbClr val="F1F5F9"/>
                    </a:solidFill>
                  </a:tcPr>
                </a:tc>
              </a:tr>
              <a:tr h="457200">
                <a:tc>
                  <a:txBody>
                    <a:bodyPr wrap="square"/>
                    <a:lstStyle/>
                    <a:p>
                      <a:pPr algn="l">
                        <a:spcAft>
                          <a:spcPts val="0"/>
                        </a:spcAft>
                      </a:pPr>
                      <a:r>
                        <a:rPr sz="1400" b="1" i="0">
                          <a:solidFill>
                            <a:srgbClr val="334155"/>
                          </a:solidFill>
                          <a:latin typeface="Calibri"/>
                        </a:rPr>
                        <a:t>Linear extrap.</a:t>
                      </a:r>
                    </a:p>
                  </a:txBody>
                  <a:tcPr marL="73152" marR="73152" marT="27432" marB="27432" anchor="ctr">
                    <a:solidFill>
                      <a:srgbClr val="FFFFFF"/>
                    </a:solidFill>
                  </a:tcPr>
                </a:tc>
                <a:tc>
                  <a:txBody>
                    <a:bodyPr wrap="square"/>
                    <a:lstStyle/>
                    <a:p>
                      <a:pPr algn="r">
                        <a:spcAft>
                          <a:spcPts val="0"/>
                        </a:spcAft>
                      </a:pPr>
                      <a:r>
                        <a:rPr sz="1400" b="0" i="0">
                          <a:solidFill>
                            <a:srgbClr val="334155"/>
                          </a:solidFill>
                          <a:latin typeface="Calibri"/>
                        </a:rPr>
                        <a:t>59.9%</a:t>
                      </a:r>
                    </a:p>
                  </a:txBody>
                  <a:tcPr marL="73152" marR="73152" marT="27432" marB="27432" anchor="ctr">
                    <a:solidFill>
                      <a:srgbClr val="FFFFFF"/>
                    </a:solidFill>
                  </a:tcPr>
                </a:tc>
                <a:tc>
                  <a:txBody>
                    <a:bodyPr wrap="square"/>
                    <a:lstStyle/>
                    <a:p>
                      <a:pPr algn="r">
                        <a:spcAft>
                          <a:spcPts val="0"/>
                        </a:spcAft>
                      </a:pPr>
                      <a:r>
                        <a:rPr sz="1400" b="0" i="0">
                          <a:solidFill>
                            <a:srgbClr val="334155"/>
                          </a:solidFill>
                          <a:latin typeface="Calibri"/>
                        </a:rPr>
                        <a:t>34.4%</a:t>
                      </a:r>
                    </a:p>
                  </a:txBody>
                  <a:tcPr marL="73152" marR="73152" marT="27432" marB="27432" anchor="ctr">
                    <a:solidFill>
                      <a:srgbClr val="FFFFFF"/>
                    </a:solidFill>
                  </a:tcPr>
                </a:tc>
                <a:tc>
                  <a:txBody>
                    <a:bodyPr wrap="square"/>
                    <a:lstStyle/>
                    <a:p>
                      <a:pPr algn="r">
                        <a:spcAft>
                          <a:spcPts val="0"/>
                        </a:spcAft>
                      </a:pPr>
                      <a:r>
                        <a:rPr sz="1400" b="0" i="0">
                          <a:solidFill>
                            <a:srgbClr val="334155"/>
                          </a:solidFill>
                          <a:latin typeface="Calibri"/>
                        </a:rPr>
                        <a:t>4.1%</a:t>
                      </a:r>
                    </a:p>
                  </a:txBody>
                  <a:tcPr marL="73152" marR="73152" marT="27432" marB="27432" anchor="ctr">
                    <a:solidFill>
                      <a:srgbClr val="FFFFFF"/>
                    </a:solidFill>
                  </a:tcPr>
                </a:tc>
                <a:tc>
                  <a:txBody>
                    <a:bodyPr wrap="square"/>
                    <a:lstStyle/>
                    <a:p>
                      <a:pPr algn="r">
                        <a:spcAft>
                          <a:spcPts val="0"/>
                        </a:spcAft>
                      </a:pPr>
                      <a:r>
                        <a:rPr sz="1400" b="0" i="0">
                          <a:solidFill>
                            <a:srgbClr val="334155"/>
                          </a:solidFill>
                          <a:latin typeface="Calibri"/>
                        </a:rPr>
                        <a:t>1.4%</a:t>
                      </a:r>
                    </a:p>
                  </a:txBody>
                  <a:tcPr marL="73152" marR="73152" marT="27432" marB="27432" anchor="ctr">
                    <a:solidFill>
                      <a:srgbClr val="FFFFFF"/>
                    </a:solidFill>
                  </a:tcPr>
                </a:tc>
                <a:tc>
                  <a:txBody>
                    <a:bodyPr wrap="square"/>
                    <a:lstStyle/>
                    <a:p>
                      <a:pPr algn="r">
                        <a:spcAft>
                          <a:spcPts val="0"/>
                        </a:spcAft>
                      </a:pPr>
                      <a:r>
                        <a:rPr sz="1400" b="0" i="0">
                          <a:solidFill>
                            <a:srgbClr val="334155"/>
                          </a:solidFill>
                          <a:latin typeface="Calibri"/>
                        </a:rPr>
                        <a:t>0.2%</a:t>
                      </a:r>
                    </a:p>
                  </a:txBody>
                  <a:tcPr marL="73152" marR="73152" marT="27432" marB="27432" anchor="ctr">
                    <a:solidFill>
                      <a:srgbClr val="FFFFFF"/>
                    </a:solidFill>
                  </a:tcPr>
                </a:tc>
              </a:tr>
            </a:tbl>
          </a:graphicData>
        </a:graphic>
      </p:graphicFrame>
      <p:sp>
        <p:nvSpPr>
          <p:cNvPr id="9" name="Rounded Rectangle 8"/>
          <p:cNvSpPr/>
          <p:nvPr/>
        </p:nvSpPr>
        <p:spPr>
          <a:xfrm>
            <a:off x="6583680" y="4114800"/>
            <a:ext cx="5074920" cy="1325880"/>
          </a:xfrm>
          <a:prstGeom prst="roundRect">
            <a:avLst>
              <a:gd name="adj" fmla="val 6000"/>
            </a:avLst>
          </a:prstGeom>
          <a:solidFill>
            <a:srgbClr val="E6F4F1"/>
          </a:solidFill>
          <a:ln>
            <a:noFill/>
          </a:ln>
          <a:effectLst/>
        </p:spPr>
        <p:txBody>
          <a:bodyPr rtlCol="0" anchor="ctr" wrap="square" lIns="182880" rIns="182880">
            <a:noAutofit/>
          </a:bodyPr>
          <a:lstStyle/>
          <a:p>
            <a:pPr algn="l">
              <a:spcAft>
                <a:spcPts val="200"/>
              </a:spcAft>
            </a:pPr>
            <a:r>
              <a:rPr sz="2400" b="1" i="0">
                <a:solidFill>
                  <a:srgbClr val="0F766E"/>
                </a:solidFill>
                <a:latin typeface="Calibri"/>
              </a:rPr>
              <a:t>99.4% in zones A+B</a:t>
            </a:r>
          </a:p>
          <a:p>
            <a:pPr algn="l">
              <a:spcAft>
                <a:spcPts val="400"/>
              </a:spcAft>
            </a:pPr>
            <a:r>
              <a:rPr sz="1500" b="0" i="0">
                <a:solidFill>
                  <a:srgbClr val="334155"/>
                </a:solidFill>
                <a:latin typeface="Calibri"/>
              </a:rPr>
              <a:t>91.81% A + 7.58% B. Zone D 0.61%; none in C or E</a:t>
            </a:r>
          </a:p>
        </p:txBody>
      </p:sp>
      <p:sp>
        <p:nvSpPr>
          <p:cNvPr id="10" name="TextBox 9"/>
          <p:cNvSpPr txBox="1"/>
          <p:nvPr/>
        </p:nvSpPr>
        <p:spPr>
          <a:xfrm>
            <a:off x="6583680" y="5532120"/>
            <a:ext cx="5074920" cy="777240"/>
          </a:xfrm>
          <a:prstGeom prst="rect">
            <a:avLst/>
          </a:prstGeom>
          <a:noFill/>
        </p:spPr>
        <p:txBody>
          <a:bodyPr wrap="square" lIns="36576" rIns="36576" tIns="36576" bIns="36576" anchor="t">
            <a:noAutofit/>
          </a:bodyPr>
          <a:lstStyle/>
          <a:p>
            <a:pPr algn="l">
              <a:spcAft>
                <a:spcPts val="400"/>
              </a:spcAft>
            </a:pPr>
            <a:r>
              <a:rPr sz="1400" b="0" i="0">
                <a:solidFill>
                  <a:srgbClr val="64748B"/>
                </a:solidFill>
                <a:latin typeface="Calibri"/>
              </a:rPr>
              <a:t>Each forecast is compared with the CGM reading exactly 2 h later. Zones per Clarke et al., Diabetes Care 1987.</a:t>
            </a:r>
          </a:p>
        </p:txBody>
      </p:sp>
      <p:sp>
        <p:nvSpPr>
          <p:cNvPr id="11"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models/metrics.json  ·  Synthetic data only · research prototype, not a medical device · not for dosing decisions</a:t>
            </a:r>
          </a:p>
        </p:txBody>
      </p:sp>
      <p:sp>
        <p:nvSpPr>
          <p:cNvPr id="12"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RESULTS · 2-HOUR EVENT ALERTS</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Alerts warned of 34 of 39 lows and 42 of 43 highs in advance, but most alarms are false</a:t>
            </a:r>
          </a:p>
        </p:txBody>
      </p:sp>
      <p:sp>
        <p:nvSpPr>
          <p:cNvPr id="4" name="Rounded Rectangle 3"/>
          <p:cNvSpPr/>
          <p:nvPr/>
        </p:nvSpPr>
        <p:spPr>
          <a:xfrm>
            <a:off x="548640" y="1645920"/>
            <a:ext cx="5440680" cy="3749039"/>
          </a:xfrm>
          <a:prstGeom prst="roundRect">
            <a:avLst>
              <a:gd name="adj" fmla="val 4000"/>
            </a:avLst>
          </a:prstGeom>
          <a:solidFill>
            <a:srgbClr val="FEF2F2"/>
          </a:solidFill>
          <a:ln>
            <a:noFill/>
          </a:ln>
          <a:effectLst/>
        </p:spPr>
        <p:txBody>
          <a:bodyPr rtlCol="0" anchor="t" wrap="square" lIns="128016" rIns="128016">
            <a:noAutofit/>
          </a:bodyPr>
          <a:lstStyle/>
          <a:p>
            <a:pPr algn="ctr"/>
          </a:p>
        </p:txBody>
      </p:sp>
      <p:sp>
        <p:nvSpPr>
          <p:cNvPr id="5" name="TextBox 4"/>
          <p:cNvSpPr txBox="1"/>
          <p:nvPr/>
        </p:nvSpPr>
        <p:spPr>
          <a:xfrm>
            <a:off x="731520" y="1737360"/>
            <a:ext cx="5120640" cy="411480"/>
          </a:xfrm>
          <a:prstGeom prst="rect">
            <a:avLst/>
          </a:prstGeom>
          <a:noFill/>
        </p:spPr>
        <p:txBody>
          <a:bodyPr wrap="square" lIns="36576" rIns="36576" tIns="36576" bIns="36576" anchor="t">
            <a:noAutofit/>
          </a:bodyPr>
          <a:lstStyle/>
          <a:p>
            <a:pPr algn="l">
              <a:spcAft>
                <a:spcPts val="400"/>
              </a:spcAft>
            </a:pPr>
            <a:r>
              <a:rPr sz="1800" b="1" i="0">
                <a:solidFill>
                  <a:srgbClr val="B91C1C"/>
                </a:solidFill>
                <a:latin typeface="Calibri"/>
              </a:rPr>
              <a:t>Hypoglycaemia (&lt;70 mg/dL within 2 h)</a:t>
            </a:r>
          </a:p>
        </p:txBody>
      </p:sp>
      <p:sp>
        <p:nvSpPr>
          <p:cNvPr id="6" name="TextBox 5"/>
          <p:cNvSpPr txBox="1"/>
          <p:nvPr/>
        </p:nvSpPr>
        <p:spPr>
          <a:xfrm>
            <a:off x="731520" y="2194560"/>
            <a:ext cx="1645920" cy="594360"/>
          </a:xfrm>
          <a:prstGeom prst="rect">
            <a:avLst/>
          </a:prstGeom>
          <a:noFill/>
        </p:spPr>
        <p:txBody>
          <a:bodyPr wrap="square" lIns="36576" rIns="36576" tIns="36576" bIns="36576" anchor="t">
            <a:noAutofit/>
          </a:bodyPr>
          <a:lstStyle/>
          <a:p>
            <a:pPr algn="l">
              <a:spcAft>
                <a:spcPts val="0"/>
              </a:spcAft>
            </a:pPr>
            <a:r>
              <a:rPr sz="3200" b="1" i="0">
                <a:solidFill>
                  <a:srgbClr val="B91C1C"/>
                </a:solidFill>
                <a:latin typeface="Calibri"/>
              </a:rPr>
              <a:t>34/39</a:t>
            </a:r>
          </a:p>
        </p:txBody>
      </p:sp>
      <p:sp>
        <p:nvSpPr>
          <p:cNvPr id="7" name="TextBox 6"/>
          <p:cNvSpPr txBox="1"/>
          <p:nvPr/>
        </p:nvSpPr>
        <p:spPr>
          <a:xfrm>
            <a:off x="731520" y="2788920"/>
            <a:ext cx="1645920" cy="640080"/>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episodes warned 15⁠–⁠120 min ahead</a:t>
            </a:r>
          </a:p>
        </p:txBody>
      </p:sp>
      <p:sp>
        <p:nvSpPr>
          <p:cNvPr id="8" name="TextBox 7"/>
          <p:cNvSpPr txBox="1"/>
          <p:nvPr/>
        </p:nvSpPr>
        <p:spPr>
          <a:xfrm>
            <a:off x="2468880" y="2194560"/>
            <a:ext cx="1645920" cy="594360"/>
          </a:xfrm>
          <a:prstGeom prst="rect">
            <a:avLst/>
          </a:prstGeom>
          <a:noFill/>
        </p:spPr>
        <p:txBody>
          <a:bodyPr wrap="square" lIns="36576" rIns="36576" tIns="36576" bIns="36576" anchor="t">
            <a:noAutofit/>
          </a:bodyPr>
          <a:lstStyle/>
          <a:p>
            <a:pPr algn="l">
              <a:spcAft>
                <a:spcPts val="0"/>
              </a:spcAft>
            </a:pPr>
            <a:r>
              <a:rPr sz="3200" b="1" i="0">
                <a:solidFill>
                  <a:srgbClr val="B91C1C"/>
                </a:solidFill>
                <a:latin typeface="Calibri"/>
              </a:rPr>
              <a:t>73.4%</a:t>
            </a:r>
          </a:p>
        </p:txBody>
      </p:sp>
      <p:sp>
        <p:nvSpPr>
          <p:cNvPr id="9" name="TextBox 8"/>
          <p:cNvSpPr txBox="1"/>
          <p:nvPr/>
        </p:nvSpPr>
        <p:spPr>
          <a:xfrm>
            <a:off x="2468880" y="2788920"/>
            <a:ext cx="1645920" cy="640080"/>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window sensitivity</a:t>
            </a:r>
          </a:p>
        </p:txBody>
      </p:sp>
      <p:sp>
        <p:nvSpPr>
          <p:cNvPr id="10" name="TextBox 9"/>
          <p:cNvSpPr txBox="1"/>
          <p:nvPr/>
        </p:nvSpPr>
        <p:spPr>
          <a:xfrm>
            <a:off x="4206240" y="2194560"/>
            <a:ext cx="1645920" cy="594360"/>
          </a:xfrm>
          <a:prstGeom prst="rect">
            <a:avLst/>
          </a:prstGeom>
          <a:noFill/>
        </p:spPr>
        <p:txBody>
          <a:bodyPr wrap="square" lIns="36576" rIns="36576" tIns="36576" bIns="36576" anchor="t">
            <a:noAutofit/>
          </a:bodyPr>
          <a:lstStyle/>
          <a:p>
            <a:pPr algn="l">
              <a:spcAft>
                <a:spcPts val="0"/>
              </a:spcAft>
            </a:pPr>
            <a:r>
              <a:rPr sz="3200" b="1" i="0">
                <a:solidFill>
                  <a:srgbClr val="B91C1C"/>
                </a:solidFill>
                <a:latin typeface="Calibri"/>
              </a:rPr>
              <a:t>52.3%</a:t>
            </a:r>
          </a:p>
        </p:txBody>
      </p:sp>
      <p:sp>
        <p:nvSpPr>
          <p:cNvPr id="11" name="TextBox 10"/>
          <p:cNvSpPr txBox="1"/>
          <p:nvPr/>
        </p:nvSpPr>
        <p:spPr>
          <a:xfrm>
            <a:off x="4206240" y="2788920"/>
            <a:ext cx="1645920" cy="640080"/>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window precision</a:t>
            </a:r>
          </a:p>
        </p:txBody>
      </p:sp>
      <p:sp>
        <p:nvSpPr>
          <p:cNvPr id="12" name="TextBox 11"/>
          <p:cNvSpPr txBox="1"/>
          <p:nvPr/>
        </p:nvSpPr>
        <p:spPr>
          <a:xfrm>
            <a:off x="731520" y="3520440"/>
            <a:ext cx="5120640" cy="1828800"/>
          </a:xfrm>
          <a:prstGeom prst="rect">
            <a:avLst/>
          </a:prstGeom>
          <a:noFill/>
        </p:spPr>
        <p:txBody>
          <a:bodyPr wrap="square" lIns="36576" rIns="36576" tIns="36576" bIns="36576" anchor="t">
            <a:noAutofit/>
          </a:bodyPr>
          <a:lstStyle/>
          <a:p>
            <a:pPr algn="l" marL="219456" indent="-219456">
              <a:spcAft>
                <a:spcPts val="500"/>
              </a:spcAft>
              <a:buClr>
                <a:srgbClr val="B91C1C"/>
              </a:buClr>
              <a:buFont typeface="Arial"/>
              <a:buChar char="•"/>
            </a:pPr>
            <a:r>
              <a:rPr sz="1500" b="0" i="0">
                <a:solidFill>
                  <a:srgbClr val="334155"/>
                </a:solidFill>
                <a:latin typeface="Calibri"/>
              </a:rPr>
              <a:t>PR-⁠AUC 0.621 · ROC-⁠AUC 0.990 · median lead time 120 min</a:t>
            </a:r>
          </a:p>
          <a:p>
            <a:pPr algn="l" marL="219456" indent="-219456">
              <a:spcAft>
                <a:spcPts val="500"/>
              </a:spcAft>
              <a:buClr>
                <a:srgbClr val="B91C1C"/>
              </a:buClr>
              <a:buFont typeface="Arial"/>
              <a:buChar char="•"/>
            </a:pPr>
            <a:r>
              <a:rPr sz="1500" b="0" i="0">
                <a:solidFill>
                  <a:srgbClr val="334155"/>
                </a:solidFill>
                <a:latin typeface="Calibri"/>
              </a:rPr>
              <a:t>If CGM is 70–250 now: sensitivity 63.2%, precision 39.3%</a:t>
            </a:r>
          </a:p>
          <a:p>
            <a:pPr algn="l" marL="219456" indent="-219456">
              <a:spcAft>
                <a:spcPts val="500"/>
              </a:spcAft>
              <a:buClr>
                <a:srgbClr val="B91C1C"/>
              </a:buClr>
              <a:buFont typeface="Arial"/>
              <a:buChar char="•"/>
            </a:pPr>
            <a:r>
              <a:rPr sz="1500" b="0" i="0">
                <a:solidFill>
                  <a:srgbClr val="334155"/>
                </a:solidFill>
                <a:latin typeface="Calibri"/>
              </a:rPr>
              <a:t>Simple rule (CGM &lt;90 and falling): sensitivity 42.8%, precision 33.9%</a:t>
            </a:r>
          </a:p>
          <a:p>
            <a:pPr algn="l" marL="219456" indent="-219456">
              <a:spcAft>
                <a:spcPts val="500"/>
              </a:spcAft>
              <a:buClr>
                <a:srgbClr val="B91C1C"/>
              </a:buClr>
              <a:buFont typeface="Arial"/>
              <a:buChar char="•"/>
            </a:pPr>
            <a:r>
              <a:rPr sz="1500" b="1" i="0">
                <a:solidFill>
                  <a:srgbClr val="1E293B"/>
                </a:solidFill>
                <a:latin typeface="Calibri"/>
              </a:rPr>
              <a:t>0.36 alarms per patient-day; 69% not followed by the event within 2 h</a:t>
            </a:r>
          </a:p>
        </p:txBody>
      </p:sp>
      <p:sp>
        <p:nvSpPr>
          <p:cNvPr id="13" name="Rounded Rectangle 12"/>
          <p:cNvSpPr/>
          <p:nvPr/>
        </p:nvSpPr>
        <p:spPr>
          <a:xfrm>
            <a:off x="6217920" y="1645920"/>
            <a:ext cx="5440680" cy="3749039"/>
          </a:xfrm>
          <a:prstGeom prst="roundRect">
            <a:avLst>
              <a:gd name="adj" fmla="val 4000"/>
            </a:avLst>
          </a:prstGeom>
          <a:solidFill>
            <a:srgbClr val="FFF7ED"/>
          </a:solidFill>
          <a:ln>
            <a:noFill/>
          </a:ln>
          <a:effectLst/>
        </p:spPr>
        <p:txBody>
          <a:bodyPr rtlCol="0" anchor="t" wrap="square" lIns="128016" rIns="128016">
            <a:noAutofit/>
          </a:bodyPr>
          <a:lstStyle/>
          <a:p>
            <a:pPr algn="ctr"/>
          </a:p>
        </p:txBody>
      </p:sp>
      <p:sp>
        <p:nvSpPr>
          <p:cNvPr id="14" name="TextBox 13"/>
          <p:cNvSpPr txBox="1"/>
          <p:nvPr/>
        </p:nvSpPr>
        <p:spPr>
          <a:xfrm>
            <a:off x="6400800" y="1737360"/>
            <a:ext cx="5120640" cy="411480"/>
          </a:xfrm>
          <a:prstGeom prst="rect">
            <a:avLst/>
          </a:prstGeom>
          <a:noFill/>
        </p:spPr>
        <p:txBody>
          <a:bodyPr wrap="square" lIns="36576" rIns="36576" tIns="36576" bIns="36576" anchor="t">
            <a:noAutofit/>
          </a:bodyPr>
          <a:lstStyle/>
          <a:p>
            <a:pPr algn="l">
              <a:spcAft>
                <a:spcPts val="400"/>
              </a:spcAft>
            </a:pPr>
            <a:r>
              <a:rPr sz="1800" b="1" i="0">
                <a:solidFill>
                  <a:srgbClr val="B45309"/>
                </a:solidFill>
                <a:latin typeface="Calibri"/>
              </a:rPr>
              <a:t>Marked hyperglycaemia (&gt;250 mg/dL within 2 h)</a:t>
            </a:r>
          </a:p>
        </p:txBody>
      </p:sp>
      <p:sp>
        <p:nvSpPr>
          <p:cNvPr id="15" name="TextBox 14"/>
          <p:cNvSpPr txBox="1"/>
          <p:nvPr/>
        </p:nvSpPr>
        <p:spPr>
          <a:xfrm>
            <a:off x="6400800" y="2194560"/>
            <a:ext cx="1645920" cy="594360"/>
          </a:xfrm>
          <a:prstGeom prst="rect">
            <a:avLst/>
          </a:prstGeom>
          <a:noFill/>
        </p:spPr>
        <p:txBody>
          <a:bodyPr wrap="square" lIns="36576" rIns="36576" tIns="36576" bIns="36576" anchor="t">
            <a:noAutofit/>
          </a:bodyPr>
          <a:lstStyle/>
          <a:p>
            <a:pPr algn="l">
              <a:spcAft>
                <a:spcPts val="0"/>
              </a:spcAft>
            </a:pPr>
            <a:r>
              <a:rPr sz="3200" b="1" i="0">
                <a:solidFill>
                  <a:srgbClr val="B45309"/>
                </a:solidFill>
                <a:latin typeface="Calibri"/>
              </a:rPr>
              <a:t>42/43</a:t>
            </a:r>
          </a:p>
        </p:txBody>
      </p:sp>
      <p:sp>
        <p:nvSpPr>
          <p:cNvPr id="16" name="TextBox 15"/>
          <p:cNvSpPr txBox="1"/>
          <p:nvPr/>
        </p:nvSpPr>
        <p:spPr>
          <a:xfrm>
            <a:off x="6400800" y="2788920"/>
            <a:ext cx="1645920" cy="640080"/>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episodes warned 15⁠–⁠120 min ahead</a:t>
            </a:r>
          </a:p>
        </p:txBody>
      </p:sp>
      <p:sp>
        <p:nvSpPr>
          <p:cNvPr id="17" name="TextBox 16"/>
          <p:cNvSpPr txBox="1"/>
          <p:nvPr/>
        </p:nvSpPr>
        <p:spPr>
          <a:xfrm>
            <a:off x="8138160" y="2194560"/>
            <a:ext cx="1645920" cy="594360"/>
          </a:xfrm>
          <a:prstGeom prst="rect">
            <a:avLst/>
          </a:prstGeom>
          <a:noFill/>
        </p:spPr>
        <p:txBody>
          <a:bodyPr wrap="square" lIns="36576" rIns="36576" tIns="36576" bIns="36576" anchor="t">
            <a:noAutofit/>
          </a:bodyPr>
          <a:lstStyle/>
          <a:p>
            <a:pPr algn="l">
              <a:spcAft>
                <a:spcPts val="0"/>
              </a:spcAft>
            </a:pPr>
            <a:r>
              <a:rPr sz="3200" b="1" i="0">
                <a:solidFill>
                  <a:srgbClr val="B45309"/>
                </a:solidFill>
                <a:latin typeface="Calibri"/>
              </a:rPr>
              <a:t>86.2%</a:t>
            </a:r>
          </a:p>
        </p:txBody>
      </p:sp>
      <p:sp>
        <p:nvSpPr>
          <p:cNvPr id="18" name="TextBox 17"/>
          <p:cNvSpPr txBox="1"/>
          <p:nvPr/>
        </p:nvSpPr>
        <p:spPr>
          <a:xfrm>
            <a:off x="8138160" y="2788920"/>
            <a:ext cx="1645920" cy="640080"/>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window sensitivity</a:t>
            </a:r>
          </a:p>
        </p:txBody>
      </p:sp>
      <p:sp>
        <p:nvSpPr>
          <p:cNvPr id="19" name="TextBox 18"/>
          <p:cNvSpPr txBox="1"/>
          <p:nvPr/>
        </p:nvSpPr>
        <p:spPr>
          <a:xfrm>
            <a:off x="9875520" y="2194560"/>
            <a:ext cx="1645920" cy="594360"/>
          </a:xfrm>
          <a:prstGeom prst="rect">
            <a:avLst/>
          </a:prstGeom>
          <a:noFill/>
        </p:spPr>
        <p:txBody>
          <a:bodyPr wrap="square" lIns="36576" rIns="36576" tIns="36576" bIns="36576" anchor="t">
            <a:noAutofit/>
          </a:bodyPr>
          <a:lstStyle/>
          <a:p>
            <a:pPr algn="l">
              <a:spcAft>
                <a:spcPts val="0"/>
              </a:spcAft>
            </a:pPr>
            <a:r>
              <a:rPr sz="3200" b="1" i="0">
                <a:solidFill>
                  <a:srgbClr val="B45309"/>
                </a:solidFill>
                <a:latin typeface="Calibri"/>
              </a:rPr>
              <a:t>36.4%</a:t>
            </a:r>
          </a:p>
        </p:txBody>
      </p:sp>
      <p:sp>
        <p:nvSpPr>
          <p:cNvPr id="20" name="TextBox 19"/>
          <p:cNvSpPr txBox="1"/>
          <p:nvPr/>
        </p:nvSpPr>
        <p:spPr>
          <a:xfrm>
            <a:off x="9875520" y="2788920"/>
            <a:ext cx="1645920" cy="640080"/>
          </a:xfrm>
          <a:prstGeom prst="rect">
            <a:avLst/>
          </a:prstGeom>
          <a:noFill/>
        </p:spPr>
        <p:txBody>
          <a:bodyPr wrap="square" lIns="36576" rIns="36576" tIns="36576" bIns="36576" anchor="t">
            <a:noAutofit/>
          </a:bodyPr>
          <a:lstStyle/>
          <a:p>
            <a:pPr algn="l">
              <a:spcAft>
                <a:spcPts val="0"/>
              </a:spcAft>
            </a:pPr>
            <a:r>
              <a:rPr sz="1400" b="0" i="0">
                <a:solidFill>
                  <a:srgbClr val="334155"/>
                </a:solidFill>
                <a:latin typeface="Calibri"/>
              </a:rPr>
              <a:t>window precision</a:t>
            </a:r>
          </a:p>
        </p:txBody>
      </p:sp>
      <p:sp>
        <p:nvSpPr>
          <p:cNvPr id="21" name="TextBox 20"/>
          <p:cNvSpPr txBox="1"/>
          <p:nvPr/>
        </p:nvSpPr>
        <p:spPr>
          <a:xfrm>
            <a:off x="6400800" y="3520440"/>
            <a:ext cx="5120640" cy="1828800"/>
          </a:xfrm>
          <a:prstGeom prst="rect">
            <a:avLst/>
          </a:prstGeom>
          <a:noFill/>
        </p:spPr>
        <p:txBody>
          <a:bodyPr wrap="square" lIns="36576" rIns="36576" tIns="36576" bIns="36576" anchor="t">
            <a:noAutofit/>
          </a:bodyPr>
          <a:lstStyle/>
          <a:p>
            <a:pPr algn="l" marL="219456" indent="-219456">
              <a:spcAft>
                <a:spcPts val="500"/>
              </a:spcAft>
              <a:buClr>
                <a:srgbClr val="B45309"/>
              </a:buClr>
              <a:buFont typeface="Arial"/>
              <a:buChar char="•"/>
            </a:pPr>
            <a:r>
              <a:rPr sz="1500" b="0" i="0">
                <a:solidFill>
                  <a:srgbClr val="334155"/>
                </a:solidFill>
                <a:latin typeface="Calibri"/>
              </a:rPr>
              <a:t>PR-⁠AUC 0.774 · ROC-⁠AUC 0.988 · median lead time 120 min</a:t>
            </a:r>
          </a:p>
          <a:p>
            <a:pPr algn="l" marL="219456" indent="-219456">
              <a:spcAft>
                <a:spcPts val="500"/>
              </a:spcAft>
              <a:buClr>
                <a:srgbClr val="B45309"/>
              </a:buClr>
              <a:buFont typeface="Arial"/>
              <a:buChar char="•"/>
            </a:pPr>
            <a:r>
              <a:rPr sz="1500" b="0" i="0">
                <a:solidFill>
                  <a:srgbClr val="334155"/>
                </a:solidFill>
                <a:latin typeface="Calibri"/>
              </a:rPr>
              <a:t>If CGM is 70–250 now: sensitivity 77.9%, precision 24.0%</a:t>
            </a:r>
          </a:p>
          <a:p>
            <a:pPr algn="l" marL="219456" indent="-219456">
              <a:spcAft>
                <a:spcPts val="500"/>
              </a:spcAft>
              <a:buClr>
                <a:srgbClr val="B45309"/>
              </a:buClr>
              <a:buFont typeface="Arial"/>
              <a:buChar char="•"/>
            </a:pPr>
            <a:r>
              <a:rPr sz="1500" b="0" i="0">
                <a:solidFill>
                  <a:srgbClr val="334155"/>
                </a:solidFill>
                <a:latin typeface="Calibri"/>
              </a:rPr>
              <a:t>Simple rule (CGM &gt;200 and rising): sensitivity 40.8%, precision 15.6%</a:t>
            </a:r>
          </a:p>
          <a:p>
            <a:pPr algn="l" marL="219456" indent="-219456">
              <a:spcAft>
                <a:spcPts val="500"/>
              </a:spcAft>
              <a:buClr>
                <a:srgbClr val="B45309"/>
              </a:buClr>
              <a:buFont typeface="Arial"/>
              <a:buChar char="•"/>
            </a:pPr>
            <a:r>
              <a:rPr sz="1500" b="1" i="0">
                <a:solidFill>
                  <a:srgbClr val="1E293B"/>
                </a:solidFill>
                <a:latin typeface="Calibri"/>
              </a:rPr>
              <a:t>0.58 alarms per patient-day; 88% not followed by the event within 2 h</a:t>
            </a:r>
          </a:p>
        </p:txBody>
      </p:sp>
      <p:sp>
        <p:nvSpPr>
          <p:cNvPr id="22" name="Rounded Rectangle 21"/>
          <p:cNvSpPr/>
          <p:nvPr/>
        </p:nvSpPr>
        <p:spPr>
          <a:xfrm>
            <a:off x="548640" y="5532120"/>
            <a:ext cx="11109960" cy="777240"/>
          </a:xfrm>
          <a:prstGeom prst="roundRect">
            <a:avLst>
              <a:gd name="adj" fmla="val 8000"/>
            </a:avLst>
          </a:prstGeom>
          <a:solidFill>
            <a:srgbClr val="F1F5F9"/>
          </a:solidFill>
          <a:ln>
            <a:noFill/>
          </a:ln>
          <a:effectLst/>
        </p:spPr>
        <p:txBody>
          <a:bodyPr rtlCol="0" anchor="ctr" wrap="square" lIns="182880" rIns="182880">
            <a:noAutofit/>
          </a:bodyPr>
          <a:lstStyle/>
          <a:p>
            <a:pPr algn="l">
              <a:spcAft>
                <a:spcPts val="400"/>
              </a:spcAft>
            </a:pPr>
            <a:r>
              <a:rPr sz="1500" b="1" i="0">
                <a:solidFill>
                  <a:srgbClr val="0F172A"/>
                </a:solidFill>
                <a:latin typeface="Calibri"/>
              </a:rPr>
              <a:t>Honest reading: </a:t>
            </a:r>
            <a:r>
              <a:rPr sz="1500" b="0" i="0">
                <a:solidFill>
                  <a:srgbClr val="334155"/>
                </a:solidFill>
                <a:latin typeface="Calibri"/>
              </a:rPr>
              <a:t>thresholds favour sensitivity (F2), so alarm fatigue is the main weakness to fix with clinicians. 50 held-out patients, 458 hypo and 557 hyper windows; scores are uncalibrated.</a:t>
            </a:r>
          </a:p>
        </p:txBody>
      </p:sp>
      <p:sp>
        <p:nvSpPr>
          <p:cNvPr id="23"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models/metrics.json  ·  Synthetic data only · research prototype, not a medical device · not for dosing decisions</a:t>
            </a:r>
          </a:p>
        </p:txBody>
      </p:sp>
      <p:sp>
        <p:nvSpPr>
          <p:cNvPr id="24"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FUSION EVIDENCE</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Fusing the EHR helps modestly for the forecast and lows; highs are driven by the wearables</a:t>
            </a:r>
          </a:p>
        </p:txBody>
      </p:sp>
      <p:sp>
        <p:nvSpPr>
          <p:cNvPr id="4" name="TextBox 3"/>
          <p:cNvSpPr txBox="1"/>
          <p:nvPr/>
        </p:nvSpPr>
        <p:spPr>
          <a:xfrm>
            <a:off x="548640" y="1645920"/>
            <a:ext cx="6035040" cy="411480"/>
          </a:xfrm>
          <a:prstGeom prst="rect">
            <a:avLst/>
          </a:prstGeom>
          <a:noFill/>
        </p:spPr>
        <p:txBody>
          <a:bodyPr wrap="square" lIns="36576" rIns="36576" tIns="36576" bIns="36576" anchor="t">
            <a:noAutofit/>
          </a:bodyPr>
          <a:lstStyle/>
          <a:p>
            <a:pPr algn="l">
              <a:spcAft>
                <a:spcPts val="400"/>
              </a:spcAft>
            </a:pPr>
            <a:r>
              <a:rPr sz="1600" b="1" i="0">
                <a:solidFill>
                  <a:srgbClr val="0F172A"/>
                </a:solidFill>
                <a:latin typeface="Calibri"/>
              </a:rPr>
              <a:t>Forecast MAE by feature set (5-fold patient-grouped CV, mg/dL)</a:t>
            </a:r>
          </a:p>
        </p:txBody>
      </p:sp>
      <p:graphicFrame>
        <p:nvGraphicFramePr>
          <p:cNvPr id="5" name="Chart 4"/>
          <p:cNvGraphicFramePr>
            <a:graphicFrameLocks noGrp="1"/>
          </p:cNvGraphicFramePr>
          <p:nvPr/>
        </p:nvGraphicFramePr>
        <p:xfrm>
          <a:off x="411480" y="2057400"/>
          <a:ext cx="6217920" cy="3840480"/>
        </p:xfrm>
        <a:graphic>
          <a:graphicData uri="http://schemas.openxmlformats.org/drawingml/2006/chart">
            <c:chart xmlns:c="http://schemas.openxmlformats.org/drawingml/2006/chart" r:id="rId2"/>
          </a:graphicData>
        </a:graphic>
      </p:graphicFrame>
      <p:sp>
        <p:nvSpPr>
          <p:cNvPr id="6" name="TextBox 5"/>
          <p:cNvSpPr txBox="1"/>
          <p:nvPr/>
        </p:nvSpPr>
        <p:spPr>
          <a:xfrm>
            <a:off x="548640" y="5897880"/>
            <a:ext cx="6035040" cy="457200"/>
          </a:xfrm>
          <a:prstGeom prst="rect">
            <a:avLst/>
          </a:prstGeom>
          <a:noFill/>
        </p:spPr>
        <p:txBody>
          <a:bodyPr wrap="square" lIns="36576" rIns="36576" tIns="36576" bIns="36576" anchor="t">
            <a:noAutofit/>
          </a:bodyPr>
          <a:lstStyle/>
          <a:p>
            <a:pPr algn="l">
              <a:spcAft>
                <a:spcPts val="400"/>
              </a:spcAft>
            </a:pPr>
            <a:r>
              <a:rPr sz="1400" b="0" i="0">
                <a:solidFill>
                  <a:srgbClr val="64748B"/>
                </a:solidFill>
                <a:latin typeface="Calibri"/>
              </a:rPr>
              <a:t>Lower is better; the shipped model uses all features.</a:t>
            </a:r>
          </a:p>
        </p:txBody>
      </p:sp>
      <p:sp>
        <p:nvSpPr>
          <p:cNvPr id="7" name="Rounded Rectangle 6"/>
          <p:cNvSpPr/>
          <p:nvPr/>
        </p:nvSpPr>
        <p:spPr>
          <a:xfrm>
            <a:off x="6903720" y="1645920"/>
            <a:ext cx="4754880" cy="1874519"/>
          </a:xfrm>
          <a:prstGeom prst="roundRect">
            <a:avLst>
              <a:gd name="adj" fmla="val 5000"/>
            </a:avLst>
          </a:prstGeom>
          <a:solidFill>
            <a:srgbClr val="0F172A"/>
          </a:solidFill>
          <a:ln>
            <a:noFill/>
          </a:ln>
          <a:effectLst/>
        </p:spPr>
        <p:txBody>
          <a:bodyPr rtlCol="0" anchor="t" wrap="square" lIns="164592" rIns="164592">
            <a:noAutofit/>
          </a:bodyPr>
          <a:lstStyle/>
          <a:p>
            <a:pPr algn="l">
              <a:spcAft>
                <a:spcPts val="200"/>
              </a:spcAft>
            </a:pPr>
            <a:r>
              <a:rPr sz="1800" b="1" i="0">
                <a:solidFill>
                  <a:srgbClr val="FFFFFF"/>
                </a:solidFill>
                <a:latin typeface="Calibri"/>
              </a:rPr>
              <a:t>EHR-swap test</a:t>
            </a:r>
          </a:p>
          <a:p>
            <a:pPr algn="l">
              <a:spcAft>
                <a:spcPts val="600"/>
              </a:spcAft>
            </a:pPr>
            <a:r>
              <a:rPr sz="1600" b="0" i="0">
                <a:solidFill>
                  <a:srgbClr val="E2E8F0"/>
                </a:solidFill>
                <a:latin typeface="Calibri"/>
              </a:rPr>
              <a:t>Held-out patients scored with another patient's EHR:</a:t>
            </a:r>
          </a:p>
          <a:p>
            <a:pPr algn="l">
              <a:spcAft>
                <a:spcPts val="200"/>
              </a:spcAft>
            </a:pPr>
            <a:r>
              <a:rPr sz="1600" b="0" i="0">
                <a:solidFill>
                  <a:srgbClr val="E2E8F0"/>
                </a:solidFill>
                <a:latin typeface="Calibri"/>
              </a:rPr>
              <a:t>Forecast MAE  </a:t>
            </a:r>
            <a:r>
              <a:rPr sz="1600" b="1" i="0">
                <a:solidFill>
                  <a:srgbClr val="FFFFFF"/>
                </a:solidFill>
                <a:latin typeface="Calibri"/>
              </a:rPr>
              <a:t>11.0 → 16.13 mg/dL</a:t>
            </a:r>
          </a:p>
          <a:p>
            <a:pPr algn="l">
              <a:spcAft>
                <a:spcPts val="200"/>
              </a:spcAft>
            </a:pPr>
            <a:r>
              <a:rPr sz="1600" b="0" i="0">
                <a:solidFill>
                  <a:srgbClr val="E2E8F0"/>
                </a:solidFill>
                <a:latin typeface="Calibri"/>
              </a:rPr>
              <a:t>Hypo PR-⁠AUC  </a:t>
            </a:r>
            <a:r>
              <a:rPr sz="1600" b="1" i="0">
                <a:solidFill>
                  <a:srgbClr val="FFFFFF"/>
                </a:solidFill>
                <a:latin typeface="Calibri"/>
              </a:rPr>
              <a:t>0.621 → 0.435</a:t>
            </a:r>
          </a:p>
          <a:p>
            <a:pPr algn="l">
              <a:spcAft>
                <a:spcPts val="200"/>
              </a:spcAft>
            </a:pPr>
            <a:r>
              <a:rPr sz="1600" b="0" i="0">
                <a:solidFill>
                  <a:srgbClr val="E2E8F0"/>
                </a:solidFill>
                <a:latin typeface="Calibri"/>
              </a:rPr>
              <a:t>Hyper PR-⁠AUC  </a:t>
            </a:r>
            <a:r>
              <a:rPr sz="1600" b="1" i="0">
                <a:solidFill>
                  <a:srgbClr val="FFFFFF"/>
                </a:solidFill>
                <a:latin typeface="Calibri"/>
              </a:rPr>
              <a:t>0.774 → 0.646</a:t>
            </a:r>
          </a:p>
        </p:txBody>
      </p:sp>
      <p:sp>
        <p:nvSpPr>
          <p:cNvPr id="8" name="TextBox 7"/>
          <p:cNvSpPr txBox="1"/>
          <p:nvPr/>
        </p:nvSpPr>
        <p:spPr>
          <a:xfrm>
            <a:off x="6903720" y="3657600"/>
            <a:ext cx="4754880" cy="2697480"/>
          </a:xfrm>
          <a:prstGeom prst="rect">
            <a:avLst/>
          </a:prstGeom>
          <a:noFill/>
        </p:spPr>
        <p:txBody>
          <a:bodyPr wrap="square" lIns="36576" rIns="36576" tIns="36576" bIns="36576" anchor="t">
            <a:noAutofit/>
          </a:bodyPr>
          <a:lstStyle/>
          <a:p>
            <a:pPr algn="l" marL="219456" indent="-219456">
              <a:spcAft>
                <a:spcPts val="500"/>
              </a:spcAft>
              <a:buClr>
                <a:srgbClr val="0F766E"/>
              </a:buClr>
              <a:buFont typeface="Arial"/>
              <a:buChar char="•"/>
            </a:pPr>
            <a:r>
              <a:rPr sz="1500" b="1" i="0">
                <a:solidFill>
                  <a:srgbClr val="1E293B"/>
                </a:solidFill>
                <a:latin typeface="Calibri"/>
              </a:rPr>
              <a:t>The model uses the EHR: </a:t>
            </a:r>
            <a:r>
              <a:rPr sz="1500" b="0" i="0">
                <a:solidFill>
                  <a:srgbClr val="334155"/>
                </a:solidFill>
                <a:latin typeface="Calibri"/>
              </a:rPr>
              <a:t>the wrong record makes every score worse.</a:t>
            </a:r>
          </a:p>
          <a:p>
            <a:pPr algn="l" marL="219456" indent="-219456">
              <a:spcAft>
                <a:spcPts val="500"/>
              </a:spcAft>
              <a:buClr>
                <a:srgbClr val="0F766E"/>
              </a:buClr>
              <a:buFont typeface="Arial"/>
              <a:buChar char="•"/>
            </a:pPr>
            <a:r>
              <a:rPr sz="1500" b="1" i="0">
                <a:solidFill>
                  <a:srgbClr val="1E293B"/>
                </a:solidFill>
                <a:latin typeface="Calibri"/>
              </a:rPr>
              <a:t>Small gains over wearables only: </a:t>
            </a:r>
            <a:r>
              <a:rPr sz="1500" b="0" i="0">
                <a:solidFill>
                  <a:srgbClr val="334155"/>
                </a:solidFill>
                <a:latin typeface="Calibri"/>
              </a:rPr>
              <a:t>MAE 11.45 → 11.08, hypo PR-⁠AUC 0.530 → 0.548; hyper PR-⁠AUC is higher without the EHR (0.855 vs 0.820).</a:t>
            </a:r>
          </a:p>
          <a:p>
            <a:pPr algn="l" marL="219456" indent="-219456">
              <a:spcAft>
                <a:spcPts val="500"/>
              </a:spcAft>
              <a:buClr>
                <a:srgbClr val="0F766E"/>
              </a:buClr>
              <a:buFont typeface="Arial"/>
              <a:buChar char="•"/>
            </a:pPr>
            <a:r>
              <a:rPr sz="1500" b="1" i="0">
                <a:solidFill>
                  <a:srgbClr val="1E293B"/>
                </a:solidFill>
                <a:latin typeface="Calibri"/>
              </a:rPr>
              <a:t>No measurable signal </a:t>
            </a:r>
            <a:r>
              <a:rPr sz="1500" b="0" i="0">
                <a:solidFill>
                  <a:srgbClr val="334155"/>
                </a:solidFill>
                <a:latin typeface="Calibri"/>
              </a:rPr>
              <a:t>from HR, HRV and sleep (MAE 11.07 without them) or from history and genetics (hypo PR-⁠AUC 0.555 without them).</a:t>
            </a:r>
          </a:p>
          <a:p>
            <a:pPr algn="l" marL="219456" indent="-219456">
              <a:spcAft>
                <a:spcPts val="500"/>
              </a:spcAft>
              <a:buClr>
                <a:srgbClr val="0F766E"/>
              </a:buClr>
              <a:buFont typeface="Arial"/>
              <a:buChar char="•"/>
            </a:pPr>
            <a:r>
              <a:rPr sz="1500" b="1" i="0">
                <a:solidFill>
                  <a:srgbClr val="1E293B"/>
                </a:solidFill>
                <a:latin typeface="Calibri"/>
              </a:rPr>
              <a:t>One CV run, </a:t>
            </a:r>
            <a:r>
              <a:rPr sz="1500" b="0" i="0">
                <a:solidFill>
                  <a:srgbClr val="334155"/>
                </a:solidFill>
                <a:latin typeface="Calibri"/>
              </a:rPr>
              <a:t>no per-fold spread reported: gaps this small may be noise.</a:t>
            </a:r>
          </a:p>
        </p:txBody>
      </p:sp>
      <p:sp>
        <p:nvSpPr>
          <p:cNvPr id="9"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models/metrics.json  ·  Synthetic data only · research prototype, not a medical device · not for dosing decisions</a:t>
            </a:r>
          </a:p>
        </p:txBody>
      </p:sp>
      <p:sp>
        <p:nvSpPr>
          <p:cNvPr id="10"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DOCTOR DASHBOARD · STREAMLIT AND HOSTED PAGE</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The live monitor scores a held-out patient window by window, on a laptop or a phone</a:t>
            </a:r>
          </a:p>
        </p:txBody>
      </p:sp>
      <p:pic>
        <p:nvPicPr>
          <p:cNvPr id="4" name="Picture 3" descr="streamlit_live_monitor.png"/>
          <p:cNvPicPr>
            <a:picLocks noChangeAspect="1"/>
          </p:cNvPicPr>
          <p:nvPr/>
        </p:nvPicPr>
        <p:blipFill>
          <a:blip r:embed="rId2"/>
          <a:srcRect l="27778" t="17222" r="5417" b="3778"/>
          <a:stretch>
            <a:fillRect/>
          </a:stretch>
        </p:blipFill>
        <p:spPr>
          <a:xfrm>
            <a:off x="548640" y="1645920"/>
            <a:ext cx="6247885" cy="4617720"/>
          </a:xfrm>
          <a:prstGeom prst="rect">
            <a:avLst/>
          </a:prstGeom>
          <a:ln w="12700">
            <a:solidFill>
              <a:srgbClr val="CBD5E1"/>
            </a:solidFill>
          </a:ln>
        </p:spPr>
      </p:pic>
      <p:sp>
        <p:nvSpPr>
          <p:cNvPr id="5" name="TextBox 4"/>
          <p:cNvSpPr txBox="1"/>
          <p:nvPr/>
        </p:nvSpPr>
        <p:spPr>
          <a:xfrm>
            <a:off x="7132320" y="1645920"/>
            <a:ext cx="4526280" cy="2514600"/>
          </a:xfrm>
          <a:prstGeom prst="rect">
            <a:avLst/>
          </a:prstGeom>
          <a:noFill/>
        </p:spPr>
        <p:txBody>
          <a:bodyPr wrap="square" lIns="36576" rIns="36576" tIns="36576" bIns="36576" anchor="t">
            <a:noAutofit/>
          </a:bodyPr>
          <a:lstStyle/>
          <a:p>
            <a:pPr algn="l">
              <a:spcAft>
                <a:spcPts val="600"/>
              </a:spcAft>
            </a:pPr>
            <a:r>
              <a:rPr sz="1800" b="1" i="0">
                <a:solidFill>
                  <a:srgbClr val="0F172A"/>
                </a:solidFill>
                <a:latin typeface="Calibri"/>
              </a:rPr>
              <a:t>What the doctor sees</a:t>
            </a:r>
          </a:p>
          <a:p>
            <a:pPr algn="l" marL="219456" indent="-219456">
              <a:spcAft>
                <a:spcPts val="500"/>
              </a:spcAft>
              <a:buClr>
                <a:srgbClr val="0F766E"/>
              </a:buClr>
              <a:buFont typeface="Arial"/>
              <a:buChar char="•"/>
            </a:pPr>
            <a:r>
              <a:rPr sz="1500" b="0" i="0">
                <a:solidFill>
                  <a:srgbClr val="334155"/>
                </a:solidFill>
                <a:latin typeface="Calibri"/>
              </a:rPr>
              <a:t>Last 8 h of CGM, the +2 h forecast and the alert, with both uncalibrated risk scores and their thresholds</a:t>
            </a:r>
          </a:p>
          <a:p>
            <a:pPr algn="l" marL="219456" indent="-219456">
              <a:spcAft>
                <a:spcPts val="500"/>
              </a:spcAft>
              <a:buClr>
                <a:srgbClr val="0F766E"/>
              </a:buClr>
              <a:buFont typeface="Arial"/>
              <a:buChar char="•"/>
            </a:pPr>
            <a:r>
              <a:rPr sz="1500" b="0" i="0">
                <a:solidFill>
                  <a:srgbClr val="334155"/>
                </a:solidFill>
                <a:latin typeface="Calibri"/>
              </a:rPr>
              <a:t>Held-out patients: the readings that followed (hidden from the model) shown for comparison</a:t>
            </a:r>
          </a:p>
          <a:p>
            <a:pPr algn="l" marL="219456" indent="-219456">
              <a:spcAft>
                <a:spcPts val="500"/>
              </a:spcAft>
              <a:buClr>
                <a:srgbClr val="0F766E"/>
              </a:buClr>
              <a:buFont typeface="Arial"/>
              <a:buChar char="•"/>
            </a:pPr>
            <a:r>
              <a:rPr sz="1500" b="0" i="0">
                <a:solidFill>
                  <a:srgbClr val="334155"/>
                </a:solidFill>
                <a:latin typeface="Calibri"/>
              </a:rPr>
              <a:t>Predicted low: “consider a snack / review medication timing with the care team”. Rescue-carb text only when CGM is &lt;70 now</a:t>
            </a:r>
          </a:p>
          <a:p>
            <a:pPr algn="l" marL="219456" indent="-219456">
              <a:spcAft>
                <a:spcPts val="500"/>
              </a:spcAft>
              <a:buClr>
                <a:srgbClr val="0F766E"/>
              </a:buClr>
              <a:buFont typeface="Arial"/>
              <a:buChar char="•"/>
            </a:pPr>
            <a:r>
              <a:rPr sz="1500" b="0" i="0">
                <a:solidFill>
                  <a:srgbClr val="334155"/>
                </a:solidFill>
                <a:latin typeface="Calibri"/>
              </a:rPr>
              <a:t>Scored live on CPU for each selected window</a:t>
            </a:r>
          </a:p>
        </p:txBody>
      </p:sp>
      <p:pic>
        <p:nvPicPr>
          <p:cNvPr id="6" name="Picture 5" descr="web_mobile.png"/>
          <p:cNvPicPr>
            <a:picLocks noChangeAspect="1"/>
          </p:cNvPicPr>
          <p:nvPr/>
        </p:nvPicPr>
        <p:blipFill>
          <a:blip r:embed="rId3"/>
          <a:srcRect l="3077" t="54739" r="3077" b="1659"/>
          <a:stretch>
            <a:fillRect/>
          </a:stretch>
        </p:blipFill>
        <p:spPr>
          <a:xfrm>
            <a:off x="9646920" y="4297680"/>
            <a:ext cx="1955275" cy="1965960"/>
          </a:xfrm>
          <a:prstGeom prst="rect">
            <a:avLst/>
          </a:prstGeom>
          <a:ln w="12700">
            <a:solidFill>
              <a:srgbClr val="CBD5E1"/>
            </a:solidFill>
          </a:ln>
        </p:spPr>
      </p:pic>
      <p:sp>
        <p:nvSpPr>
          <p:cNvPr id="7" name="TextBox 6"/>
          <p:cNvSpPr txBox="1"/>
          <p:nvPr/>
        </p:nvSpPr>
        <p:spPr>
          <a:xfrm>
            <a:off x="7132320" y="4297680"/>
            <a:ext cx="2331720" cy="1965960"/>
          </a:xfrm>
          <a:prstGeom prst="rect">
            <a:avLst/>
          </a:prstGeom>
          <a:noFill/>
        </p:spPr>
        <p:txBody>
          <a:bodyPr wrap="square" lIns="36576" rIns="36576" tIns="36576" bIns="36576" anchor="t">
            <a:noAutofit/>
          </a:bodyPr>
          <a:lstStyle/>
          <a:p>
            <a:pPr algn="l">
              <a:spcAft>
                <a:spcPts val="400"/>
              </a:spcAft>
            </a:pPr>
            <a:r>
              <a:rPr sz="1500" b="1" i="0">
                <a:solidFill>
                  <a:srgbClr val="0F766E"/>
                </a:solidFill>
                <a:latin typeface="Calibri"/>
              </a:rPr>
              <a:t>Hosted page on a phone</a:t>
            </a:r>
          </a:p>
          <a:p>
            <a:pPr algn="l">
              <a:spcAft>
                <a:spcPts val="0"/>
              </a:spcAft>
            </a:pPr>
            <a:r>
              <a:rPr sz="1500" b="0" i="0">
                <a:solidFill>
                  <a:srgbClr val="334155"/>
                </a:solidFill>
                <a:latin typeface="Calibri"/>
              </a:rPr>
              <a:t>Same patient, an earlier alert. Outputs precomputed in Python; no model runs in the browser.</a:t>
            </a:r>
          </a:p>
        </p:txBody>
      </p:sp>
      <p:sp>
        <p:nvSpPr>
          <p:cNvPr id="8"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dashboard/app.py, dashboard/index.html (screenshots)  ·  Synthetic data only · research prototype, not a medical device · not for dosing decisions</a:t>
            </a:r>
          </a:p>
        </p:txBody>
      </p:sp>
      <p:sp>
        <p:nvSpPr>
          <p:cNvPr id="9"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DOCTOR DASHBOARD · COHORT AND SANDBOX</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A cohort risk board shows who needs attention; a rule-based sandbox supports counselling</a:t>
            </a:r>
          </a:p>
        </p:txBody>
      </p:sp>
      <p:pic>
        <p:nvPicPr>
          <p:cNvPr id="4" name="Picture 3" descr="streamlit_cohort.png"/>
          <p:cNvPicPr>
            <a:picLocks noChangeAspect="1"/>
          </p:cNvPicPr>
          <p:nvPr/>
        </p:nvPicPr>
        <p:blipFill>
          <a:blip r:embed="rId2"/>
          <a:srcRect l="27778" t="50556" r="7153" b="2667"/>
          <a:stretch>
            <a:fillRect/>
          </a:stretch>
        </p:blipFill>
        <p:spPr>
          <a:xfrm>
            <a:off x="548640" y="1691640"/>
            <a:ext cx="6400800" cy="2875919"/>
          </a:xfrm>
          <a:prstGeom prst="rect">
            <a:avLst/>
          </a:prstGeom>
          <a:ln w="12700">
            <a:solidFill>
              <a:srgbClr val="CBD5E1"/>
            </a:solidFill>
          </a:ln>
        </p:spPr>
      </p:pic>
      <p:pic>
        <p:nvPicPr>
          <p:cNvPr id="5" name="Picture 4" descr="streamlit_what_if.png"/>
          <p:cNvPicPr>
            <a:picLocks noChangeAspect="1"/>
          </p:cNvPicPr>
          <p:nvPr/>
        </p:nvPicPr>
        <p:blipFill>
          <a:blip r:embed="rId3"/>
          <a:srcRect l="52222" t="42889" r="5417" b="444"/>
          <a:stretch>
            <a:fillRect/>
          </a:stretch>
        </p:blipFill>
        <p:spPr>
          <a:xfrm>
            <a:off x="7557248" y="1691640"/>
            <a:ext cx="4101352" cy="3429000"/>
          </a:xfrm>
          <a:prstGeom prst="rect">
            <a:avLst/>
          </a:prstGeom>
          <a:ln w="12700">
            <a:solidFill>
              <a:srgbClr val="CBD5E1"/>
            </a:solidFill>
          </a:ln>
        </p:spPr>
      </p:pic>
      <p:sp>
        <p:nvSpPr>
          <p:cNvPr id="6" name="TextBox 5"/>
          <p:cNvSpPr txBox="1"/>
          <p:nvPr/>
        </p:nvSpPr>
        <p:spPr>
          <a:xfrm>
            <a:off x="548640" y="4704719"/>
            <a:ext cx="6400800" cy="1097280"/>
          </a:xfrm>
          <a:prstGeom prst="rect">
            <a:avLst/>
          </a:prstGeom>
          <a:noFill/>
        </p:spPr>
        <p:txBody>
          <a:bodyPr wrap="square" lIns="36576" rIns="36576" tIns="36576" bIns="36576" anchor="t">
            <a:noAutofit/>
          </a:bodyPr>
          <a:lstStyle/>
          <a:p>
            <a:pPr algn="l">
              <a:spcAft>
                <a:spcPts val="200"/>
              </a:spcAft>
            </a:pPr>
            <a:r>
              <a:rPr sz="1500" b="1" i="0">
                <a:solidFill>
                  <a:srgbClr val="0F766E"/>
                </a:solidFill>
                <a:latin typeface="Calibri"/>
              </a:rPr>
              <a:t>Cohort risk board</a:t>
            </a:r>
          </a:p>
          <a:p>
            <a:pPr algn="l">
              <a:spcAft>
                <a:spcPts val="0"/>
              </a:spcAft>
            </a:pPr>
            <a:r>
              <a:rPr sz="1500" b="0" i="0">
                <a:solidFill>
                  <a:srgbClr val="334155"/>
                </a:solidFill>
                <a:latin typeface="Calibri"/>
              </a:rPr>
              <a:t>Every patient scored in one batched call and ranked by the higher of the two risk scores (held-out patients shown)</a:t>
            </a:r>
          </a:p>
        </p:txBody>
      </p:sp>
      <p:sp>
        <p:nvSpPr>
          <p:cNvPr id="7" name="TextBox 6"/>
          <p:cNvSpPr txBox="1"/>
          <p:nvPr/>
        </p:nvSpPr>
        <p:spPr>
          <a:xfrm>
            <a:off x="7557248" y="5230368"/>
            <a:ext cx="4101352" cy="1124712"/>
          </a:xfrm>
          <a:prstGeom prst="rect">
            <a:avLst/>
          </a:prstGeom>
          <a:noFill/>
        </p:spPr>
        <p:txBody>
          <a:bodyPr wrap="square" lIns="36576" rIns="36576" tIns="36576" bIns="36576" anchor="t">
            <a:noAutofit/>
          </a:bodyPr>
          <a:lstStyle/>
          <a:p>
            <a:pPr algn="l">
              <a:spcAft>
                <a:spcPts val="200"/>
              </a:spcAft>
            </a:pPr>
            <a:r>
              <a:rPr sz="1500" b="1" i="0">
                <a:solidFill>
                  <a:srgbClr val="0F766E"/>
                </a:solidFill>
                <a:latin typeface="Calibri"/>
              </a:rPr>
              <a:t>What-if sandbox</a:t>
            </a:r>
          </a:p>
          <a:p>
            <a:pPr algn="l">
              <a:spcAft>
                <a:spcPts val="0"/>
              </a:spcAft>
            </a:pPr>
            <a:r>
              <a:rPr sz="1500" b="0" i="0">
                <a:solidFill>
                  <a:srgbClr val="334155"/>
                </a:solidFill>
                <a:latin typeface="Calibri"/>
              </a:rPr>
              <a:t>Hand-written rules for counselling, not the ML model (its +2 h forecast is shown only for comparison); not a dosing tool</a:t>
            </a:r>
          </a:p>
        </p:txBody>
      </p:sp>
      <p:sp>
        <p:nvSpPr>
          <p:cNvPr id="8"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dashboard/app.py (screenshots)  ·  Synthetic data only · research prototype, not a medical device · not for dosing decisions</a:t>
            </a:r>
          </a:p>
        </p:txBody>
      </p:sp>
      <p:sp>
        <p:nvSpPr>
          <p:cNvPr id="9"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0F766E"/>
                </a:solidFill>
                <a:latin typeface="Calibri"/>
              </a:rPr>
              <a:t>LIMITATIONS AND SAFETY</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0F172A"/>
                </a:solidFill>
                <a:latin typeface="Calibri"/>
              </a:rPr>
              <a:t>What this prototype does not show yet</a:t>
            </a:r>
          </a:p>
        </p:txBody>
      </p:sp>
      <p:sp>
        <p:nvSpPr>
          <p:cNvPr id="4" name="TextBox 3"/>
          <p:cNvSpPr txBox="1"/>
          <p:nvPr/>
        </p:nvSpPr>
        <p:spPr>
          <a:xfrm>
            <a:off x="548640" y="1645920"/>
            <a:ext cx="6035040" cy="4663440"/>
          </a:xfrm>
          <a:prstGeom prst="rect">
            <a:avLst/>
          </a:prstGeom>
          <a:noFill/>
        </p:spPr>
        <p:txBody>
          <a:bodyPr wrap="square" lIns="36576" rIns="36576" tIns="36576" bIns="36576" anchor="t">
            <a:noAutofit/>
          </a:bodyPr>
          <a:lstStyle/>
          <a:p>
            <a:pPr algn="l" marL="219456" indent="-219456">
              <a:spcAft>
                <a:spcPts val="700"/>
              </a:spcAft>
              <a:buClr>
                <a:srgbClr val="0F766E"/>
              </a:buClr>
              <a:buFont typeface="Arial"/>
              <a:buChar char="•"/>
            </a:pPr>
            <a:r>
              <a:rPr sz="1500" b="1" i="0">
                <a:solidFill>
                  <a:srgbClr val="1E293B"/>
                </a:solidFill>
                <a:latin typeface="Calibri"/>
              </a:rPr>
              <a:t>Synthetic data only. </a:t>
            </a:r>
            <a:r>
              <a:rPr sz="1500" b="0" i="0">
                <a:solidFill>
                  <a:srgbClr val="334155"/>
                </a:solidFill>
                <a:latin typeface="Calibri"/>
              </a:rPr>
              <a:t>The model learns our simulator, which is simpler than real physiology; high ROC-⁠AUC partly reflects that. No result transfers to real patients yet.</a:t>
            </a:r>
          </a:p>
          <a:p>
            <a:pPr algn="l" marL="219456" indent="-219456">
              <a:spcAft>
                <a:spcPts val="700"/>
              </a:spcAft>
              <a:buClr>
                <a:srgbClr val="0F766E"/>
              </a:buClr>
              <a:buFont typeface="Arial"/>
              <a:buChar char="•"/>
            </a:pPr>
            <a:r>
              <a:rPr sz="1500" b="1" i="0">
                <a:solidFill>
                  <a:srgbClr val="1E293B"/>
                </a:solidFill>
                <a:latin typeface="Calibri"/>
              </a:rPr>
              <a:t>Uncalibrated simulator and scores. </a:t>
            </a:r>
            <a:r>
              <a:rPr sz="1500" b="0" i="0">
                <a:solidFill>
                  <a:srgbClr val="334155"/>
                </a:solidFill>
                <a:latin typeface="Calibri"/>
              </a:rPr>
              <a:t>Simulator parameters are hand-set; classifier outputs are risk scores, meaningful only against the thresholds.</a:t>
            </a:r>
          </a:p>
          <a:p>
            <a:pPr algn="l" marL="219456" indent="-219456">
              <a:spcAft>
                <a:spcPts val="700"/>
              </a:spcAft>
              <a:buClr>
                <a:srgbClr val="0F766E"/>
              </a:buClr>
              <a:buFont typeface="Arial"/>
              <a:buChar char="•"/>
            </a:pPr>
            <a:r>
              <a:rPr sz="1500" b="1" i="0">
                <a:solidFill>
                  <a:srgbClr val="1E293B"/>
                </a:solidFill>
                <a:latin typeface="Calibri"/>
              </a:rPr>
              <a:t>False alarms. </a:t>
            </a:r>
            <a:r>
              <a:rPr sz="1500" b="0" i="0">
                <a:solidFill>
                  <a:srgbClr val="334155"/>
                </a:solidFill>
                <a:latin typeface="Calibri"/>
              </a:rPr>
              <a:t>0.36 hypo and 0.58 hyper alarms per patient-day; 69% and 88% are not followed by the event.</a:t>
            </a:r>
          </a:p>
          <a:p>
            <a:pPr algn="l" marL="219456" indent="-219456">
              <a:spcAft>
                <a:spcPts val="700"/>
              </a:spcAft>
              <a:buClr>
                <a:srgbClr val="0F766E"/>
              </a:buClr>
              <a:buFont typeface="Arial"/>
              <a:buChar char="•"/>
            </a:pPr>
            <a:r>
              <a:rPr sz="1500" b="1" i="0">
                <a:solidFill>
                  <a:srgbClr val="1E293B"/>
                </a:solidFill>
                <a:latin typeface="Calibri"/>
              </a:rPr>
              <a:t>Harder case: in range now. </a:t>
            </a:r>
            <a:r>
              <a:rPr sz="1500" b="0" i="0">
                <a:solidFill>
                  <a:srgbClr val="334155"/>
                </a:solidFill>
                <a:latin typeface="Calibri"/>
              </a:rPr>
              <a:t>If CGM is 70⁠–⁠250 at the time of the alert, sensitivity is 63.2% (hypo) and 77.9% (hyper).</a:t>
            </a:r>
          </a:p>
          <a:p>
            <a:pPr algn="l" marL="219456" indent="-219456">
              <a:spcAft>
                <a:spcPts val="700"/>
              </a:spcAft>
              <a:buClr>
                <a:srgbClr val="0F766E"/>
              </a:buClr>
              <a:buFont typeface="Arial"/>
              <a:buChar char="•"/>
            </a:pPr>
            <a:r>
              <a:rPr sz="1500" b="1" i="0">
                <a:solidFill>
                  <a:srgbClr val="1E293B"/>
                </a:solidFill>
                <a:latin typeface="Calibri"/>
              </a:rPr>
              <a:t>Thin coverage. </a:t>
            </a:r>
            <a:r>
              <a:rPr sz="1500" b="0" i="0">
                <a:solidFill>
                  <a:srgbClr val="334155"/>
                </a:solidFill>
                <a:latin typeface="Calibri"/>
              </a:rPr>
              <a:t>3 of 200 personas use insulin (0 in the held-out set); none has eGFR &lt;60; only 35 readings &lt;54, too few to evaluate Level 2 hypoglycaemia.</a:t>
            </a:r>
          </a:p>
          <a:p>
            <a:pPr algn="l" marL="219456" indent="-219456">
              <a:spcAft>
                <a:spcPts val="700"/>
              </a:spcAft>
              <a:buClr>
                <a:srgbClr val="0F766E"/>
              </a:buClr>
              <a:buFont typeface="Arial"/>
              <a:buChar char="•"/>
            </a:pPr>
            <a:r>
              <a:rPr sz="1500" b="1" i="0">
                <a:solidFill>
                  <a:srgbClr val="1E293B"/>
                </a:solidFill>
                <a:latin typeface="Calibri"/>
              </a:rPr>
              <a:t>Regular routines. </a:t>
            </a:r>
            <a:r>
              <a:rPr sz="1500" b="0" i="0">
                <a:solidFill>
                  <a:srgbClr val="334155"/>
                </a:solidFill>
                <a:latin typeface="Calibri"/>
              </a:rPr>
              <a:t>Hour of day is a strong feature (MAE 13.86 without it); real days vary more.</a:t>
            </a:r>
          </a:p>
        </p:txBody>
      </p:sp>
      <p:sp>
        <p:nvSpPr>
          <p:cNvPr id="5" name="Rounded Rectangle 4"/>
          <p:cNvSpPr/>
          <p:nvPr/>
        </p:nvSpPr>
        <p:spPr>
          <a:xfrm>
            <a:off x="6903720" y="1645920"/>
            <a:ext cx="4754880" cy="4663440"/>
          </a:xfrm>
          <a:prstGeom prst="roundRect">
            <a:avLst>
              <a:gd name="adj" fmla="val 4000"/>
            </a:avLst>
          </a:prstGeom>
          <a:solidFill>
            <a:srgbClr val="0F172A"/>
          </a:solidFill>
          <a:ln>
            <a:noFill/>
          </a:ln>
          <a:effectLst/>
        </p:spPr>
        <p:txBody>
          <a:bodyPr rtlCol="0" anchor="t" wrap="square" lIns="228600" rIns="228600">
            <a:noAutofit/>
          </a:bodyPr>
          <a:lstStyle/>
          <a:p>
            <a:pPr algn="l">
              <a:spcAft>
                <a:spcPts val="600"/>
              </a:spcAft>
            </a:pPr>
            <a:r>
              <a:rPr sz="2000" b="1" i="0">
                <a:solidFill>
                  <a:srgbClr val="FFFFFF"/>
                </a:solidFill>
                <a:latin typeface="Calibri"/>
              </a:rPr>
              <a:t>Safety statement</a:t>
            </a:r>
          </a:p>
          <a:p>
            <a:pPr algn="l">
              <a:spcAft>
                <a:spcPts val="1000"/>
              </a:spcAft>
            </a:pPr>
            <a:r>
              <a:rPr sz="1500" b="1" i="0">
                <a:solidFill>
                  <a:srgbClr val="99F6E4"/>
                </a:solidFill>
                <a:latin typeface="Calibri"/>
              </a:rPr>
              <a:t>Synthetic data only. Research prototype, not a medical device. Not for diagnosis or dosing decisions.</a:t>
            </a:r>
          </a:p>
          <a:p>
            <a:pPr algn="l" marL="219456" indent="-219456">
              <a:spcAft>
                <a:spcPts val="800"/>
              </a:spcAft>
              <a:buClr>
                <a:srgbClr val="99F6E4"/>
              </a:buClr>
              <a:buFont typeface="Arial"/>
              <a:buChar char="•"/>
            </a:pPr>
            <a:r>
              <a:rPr sz="1500" b="0" i="0">
                <a:solidFill>
                  <a:srgbClr val="E2E8F0"/>
                </a:solidFill>
                <a:latin typeface="Calibri"/>
              </a:rPr>
              <a:t>Decision support for a clinician, who decides any action</a:t>
            </a:r>
          </a:p>
          <a:p>
            <a:pPr algn="l" marL="219456" indent="-219456">
              <a:spcAft>
                <a:spcPts val="800"/>
              </a:spcAft>
              <a:buClr>
                <a:srgbClr val="99F6E4"/>
              </a:buClr>
              <a:buFont typeface="Arial"/>
              <a:buChar char="•"/>
            </a:pPr>
            <a:r>
              <a:rPr sz="1500" b="0" i="0">
                <a:solidFill>
                  <a:srgbClr val="E2E8F0"/>
                </a:solidFill>
                <a:latin typeface="Calibri"/>
              </a:rPr>
              <a:t>A predicted low suggests a snack or a medication-timing review with the care team</a:t>
            </a:r>
          </a:p>
          <a:p>
            <a:pPr algn="l" marL="219456" indent="-219456">
              <a:spcAft>
                <a:spcPts val="800"/>
              </a:spcAft>
              <a:buClr>
                <a:srgbClr val="99F6E4"/>
              </a:buClr>
              <a:buFont typeface="Arial"/>
              <a:buChar char="•"/>
            </a:pPr>
            <a:r>
              <a:rPr sz="1500" b="0" i="0">
                <a:solidFill>
                  <a:srgbClr val="E2E8F0"/>
                </a:solidFill>
                <a:latin typeface="Calibri"/>
              </a:rPr>
              <a:t>Rescue text (15 g fast carbs, recheck in 15 min) only when CGM is &lt;70 now; never insulin doses</a:t>
            </a:r>
          </a:p>
          <a:p>
            <a:pPr algn="l" marL="219456" indent="-219456">
              <a:spcAft>
                <a:spcPts val="800"/>
              </a:spcAft>
              <a:buClr>
                <a:srgbClr val="99F6E4"/>
              </a:buClr>
              <a:buFont typeface="Arial"/>
              <a:buChar char="•"/>
            </a:pPr>
            <a:r>
              <a:rPr sz="1500" b="0" i="0">
                <a:solidFill>
                  <a:srgbClr val="E2E8F0"/>
                </a:solidFill>
                <a:latin typeface="Calibri"/>
              </a:rPr>
              <a:t>Uses only synthetic data, so no personal health data is processed (designed with DPDP Act 2023 principles in mind)</a:t>
            </a:r>
          </a:p>
          <a:p>
            <a:pPr algn="l" marL="219456" indent="-219456">
              <a:spcAft>
                <a:spcPts val="800"/>
              </a:spcAft>
              <a:buClr>
                <a:srgbClr val="99F6E4"/>
              </a:buClr>
              <a:buFont typeface="Arial"/>
              <a:buChar char="•"/>
            </a:pPr>
            <a:r>
              <a:rPr sz="1500" b="0" i="0">
                <a:solidFill>
                  <a:srgbClr val="E2E8F0"/>
                </a:solidFill>
                <a:latin typeface="Calibri"/>
              </a:rPr>
              <a:t>Clinical use would need prospective validation and regulatory review</a:t>
            </a:r>
          </a:p>
        </p:txBody>
      </p:sp>
      <p:sp>
        <p:nvSpPr>
          <p:cNvPr id="6"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64748B"/>
                </a:solidFill>
                <a:latin typeface="Calibri"/>
              </a:rPr>
              <a:t>Source: data/synthetic_ehr.csv, models/metrics.json  ·  Synthetic data only · research prototype, not a medical device · not for dosing decisions</a:t>
            </a:r>
          </a:p>
        </p:txBody>
      </p:sp>
      <p:sp>
        <p:nvSpPr>
          <p:cNvPr id="7"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64748B"/>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Kicker"/>
          <p:cNvSpPr txBox="1"/>
          <p:nvPr/>
        </p:nvSpPr>
        <p:spPr>
          <a:xfrm>
            <a:off x="548640" y="292608"/>
            <a:ext cx="11064240" cy="329184"/>
          </a:xfrm>
          <a:prstGeom prst="rect">
            <a:avLst/>
          </a:prstGeom>
          <a:noFill/>
        </p:spPr>
        <p:txBody>
          <a:bodyPr wrap="square" lIns="36576" rIns="36576" tIns="36576" bIns="36576" anchor="t">
            <a:noAutofit/>
          </a:bodyPr>
          <a:lstStyle/>
          <a:p>
            <a:pPr algn="l">
              <a:spcAft>
                <a:spcPts val="400"/>
              </a:spcAft>
            </a:pPr>
            <a:r>
              <a:rPr sz="1400" b="1" i="0">
                <a:solidFill>
                  <a:srgbClr val="99F6E4"/>
                </a:solidFill>
                <a:latin typeface="Calibri"/>
              </a:rPr>
              <a:t>NEXT STEPS</a:t>
            </a:r>
          </a:p>
        </p:txBody>
      </p:sp>
      <p:sp>
        <p:nvSpPr>
          <p:cNvPr id="3" name="Title"/>
          <p:cNvSpPr txBox="1"/>
          <p:nvPr/>
        </p:nvSpPr>
        <p:spPr>
          <a:xfrm>
            <a:off x="548640" y="603504"/>
            <a:ext cx="11064240" cy="914400"/>
          </a:xfrm>
          <a:prstGeom prst="rect">
            <a:avLst/>
          </a:prstGeom>
          <a:noFill/>
        </p:spPr>
        <p:txBody>
          <a:bodyPr wrap="square" lIns="36576" rIns="36576" tIns="36576" bIns="36576" anchor="t">
            <a:noAutofit/>
          </a:bodyPr>
          <a:lstStyle/>
          <a:p>
            <a:pPr algn="l">
              <a:lnSpc>
                <a:spcPct val="95000"/>
              </a:lnSpc>
              <a:spcAft>
                <a:spcPts val="0"/>
              </a:spcAft>
            </a:pPr>
            <a:r>
              <a:rPr sz="2800" b="1" i="0">
                <a:solidFill>
                  <a:srgbClr val="FFFFFF"/>
                </a:solidFill>
                <a:latin typeface="Calibri"/>
              </a:rPr>
              <a:t>From a synthetic twin to a clinic pilot</a:t>
            </a:r>
          </a:p>
        </p:txBody>
      </p:sp>
      <p:sp>
        <p:nvSpPr>
          <p:cNvPr id="4" name="Oval 3"/>
          <p:cNvSpPr/>
          <p:nvPr/>
        </p:nvSpPr>
        <p:spPr>
          <a:xfrm>
            <a:off x="594360" y="1764792"/>
            <a:ext cx="502920" cy="50292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800" b="1" i="0">
                <a:solidFill>
                  <a:srgbClr val="FFFFFF"/>
                </a:solidFill>
                <a:latin typeface="Calibri"/>
              </a:rPr>
              <a:t>1</a:t>
            </a:r>
          </a:p>
        </p:txBody>
      </p:sp>
      <p:sp>
        <p:nvSpPr>
          <p:cNvPr id="5" name="TextBox 4"/>
          <p:cNvSpPr txBox="1"/>
          <p:nvPr/>
        </p:nvSpPr>
        <p:spPr>
          <a:xfrm>
            <a:off x="1280160" y="1691640"/>
            <a:ext cx="5394960" cy="1005840"/>
          </a:xfrm>
          <a:prstGeom prst="rect">
            <a:avLst/>
          </a:prstGeom>
          <a:noFill/>
        </p:spPr>
        <p:txBody>
          <a:bodyPr wrap="square" lIns="36576" rIns="36576" tIns="36576" bIns="36576" anchor="t">
            <a:noAutofit/>
          </a:bodyPr>
          <a:lstStyle/>
          <a:p>
            <a:pPr algn="l">
              <a:spcAft>
                <a:spcPts val="200"/>
              </a:spcAft>
            </a:pPr>
            <a:r>
              <a:rPr sz="1800" b="1" i="0">
                <a:solidFill>
                  <a:srgbClr val="FFFFFF"/>
                </a:solidFill>
                <a:latin typeface="Calibri"/>
              </a:rPr>
              <a:t>Real CGM data</a:t>
            </a:r>
          </a:p>
          <a:p>
            <a:pPr algn="l">
              <a:spcAft>
                <a:spcPts val="400"/>
              </a:spcAft>
            </a:pPr>
            <a:r>
              <a:rPr sz="1500" b="0" i="0">
                <a:solidFill>
                  <a:srgbClr val="E2E8F0"/>
                </a:solidFill>
                <a:latin typeface="Calibri"/>
              </a:rPr>
              <a:t>Validate on open Type 2 diabetes CGM datasets (for example ShanghaiT2DM, CGMacros on PhysioNet) after licence checks</a:t>
            </a:r>
          </a:p>
        </p:txBody>
      </p:sp>
      <p:cxnSp>
        <p:nvCxnSpPr>
          <p:cNvPr id="6" name="Connector 5"/>
          <p:cNvCxnSpPr/>
          <p:nvPr/>
        </p:nvCxnSpPr>
        <p:spPr>
          <a:xfrm>
            <a:off x="845820" y="2295144"/>
            <a:ext cx="0" cy="493776"/>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4360" y="2880360"/>
            <a:ext cx="502920" cy="50292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800" b="1" i="0">
                <a:solidFill>
                  <a:srgbClr val="FFFFFF"/>
                </a:solidFill>
                <a:latin typeface="Calibri"/>
              </a:rPr>
              <a:t>2</a:t>
            </a:r>
          </a:p>
        </p:txBody>
      </p:sp>
      <p:sp>
        <p:nvSpPr>
          <p:cNvPr id="8" name="TextBox 7"/>
          <p:cNvSpPr txBox="1"/>
          <p:nvPr/>
        </p:nvSpPr>
        <p:spPr>
          <a:xfrm>
            <a:off x="1280160" y="2807208"/>
            <a:ext cx="5394960" cy="1005840"/>
          </a:xfrm>
          <a:prstGeom prst="rect">
            <a:avLst/>
          </a:prstGeom>
          <a:noFill/>
        </p:spPr>
        <p:txBody>
          <a:bodyPr wrap="square" lIns="36576" rIns="36576" tIns="36576" bIns="36576" anchor="t">
            <a:noAutofit/>
          </a:bodyPr>
          <a:lstStyle/>
          <a:p>
            <a:pPr algn="l">
              <a:spcAft>
                <a:spcPts val="200"/>
              </a:spcAft>
            </a:pPr>
            <a:r>
              <a:rPr sz="1800" b="1" i="0">
                <a:solidFill>
                  <a:srgbClr val="FFFFFF"/>
                </a:solidFill>
                <a:latin typeface="Calibri"/>
              </a:rPr>
              <a:t>Realistic EHR</a:t>
            </a:r>
          </a:p>
          <a:p>
            <a:pPr algn="l">
              <a:spcAft>
                <a:spcPts val="400"/>
              </a:spcAft>
            </a:pPr>
            <a:r>
              <a:rPr sz="1500" b="0" i="0">
                <a:solidFill>
                  <a:srgbClr val="E2E8F0"/>
                </a:solidFill>
                <a:latin typeface="Calibri"/>
              </a:rPr>
              <a:t>Synthea with an India-adapted module; MIMIC-IV only where its data use agreement allows</a:t>
            </a:r>
          </a:p>
        </p:txBody>
      </p:sp>
      <p:cxnSp>
        <p:nvCxnSpPr>
          <p:cNvPr id="9" name="Connector 8"/>
          <p:cNvCxnSpPr/>
          <p:nvPr/>
        </p:nvCxnSpPr>
        <p:spPr>
          <a:xfrm>
            <a:off x="845820" y="3410712"/>
            <a:ext cx="0" cy="493776"/>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94360" y="3995928"/>
            <a:ext cx="502920" cy="50292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800" b="1" i="0">
                <a:solidFill>
                  <a:srgbClr val="FFFFFF"/>
                </a:solidFill>
                <a:latin typeface="Calibri"/>
              </a:rPr>
              <a:t>3</a:t>
            </a:r>
          </a:p>
        </p:txBody>
      </p:sp>
      <p:sp>
        <p:nvSpPr>
          <p:cNvPr id="11" name="TextBox 10"/>
          <p:cNvSpPr txBox="1"/>
          <p:nvPr/>
        </p:nvSpPr>
        <p:spPr>
          <a:xfrm>
            <a:off x="1280160" y="3922776"/>
            <a:ext cx="5394960" cy="1005840"/>
          </a:xfrm>
          <a:prstGeom prst="rect">
            <a:avLst/>
          </a:prstGeom>
          <a:noFill/>
        </p:spPr>
        <p:txBody>
          <a:bodyPr wrap="square" lIns="36576" rIns="36576" tIns="36576" bIns="36576" anchor="t">
            <a:noAutofit/>
          </a:bodyPr>
          <a:lstStyle/>
          <a:p>
            <a:pPr algn="l">
              <a:spcAft>
                <a:spcPts val="200"/>
              </a:spcAft>
            </a:pPr>
            <a:r>
              <a:rPr sz="1800" b="1" i="0">
                <a:solidFill>
                  <a:srgbClr val="FFFFFF"/>
                </a:solidFill>
                <a:latin typeface="Calibri"/>
              </a:rPr>
              <a:t>Calibration and alarms</a:t>
            </a:r>
          </a:p>
          <a:p>
            <a:pPr algn="l">
              <a:spcAft>
                <a:spcPts val="400"/>
              </a:spcAft>
            </a:pPr>
            <a:r>
              <a:rPr sz="1500" b="0" i="0">
                <a:solidFill>
                  <a:srgbClr val="E2E8F0"/>
                </a:solidFill>
                <a:latin typeface="Calibri"/>
              </a:rPr>
              <a:t>Calibrate risk scores on grouped CV; tune thresholds with clinicians to cut false alarms</a:t>
            </a:r>
          </a:p>
        </p:txBody>
      </p:sp>
      <p:cxnSp>
        <p:nvCxnSpPr>
          <p:cNvPr id="12" name="Connector 11"/>
          <p:cNvCxnSpPr/>
          <p:nvPr/>
        </p:nvCxnSpPr>
        <p:spPr>
          <a:xfrm>
            <a:off x="845820" y="4526280"/>
            <a:ext cx="0" cy="493776"/>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94360" y="5111496"/>
            <a:ext cx="502920" cy="502920"/>
          </a:xfrm>
          <a:prstGeom prst="ellipse">
            <a:avLst/>
          </a:prstGeom>
          <a:solidFill>
            <a:srgbClr val="0F766E"/>
          </a:solidFill>
          <a:ln>
            <a:noFill/>
          </a:ln>
          <a:effectLst/>
        </p:spPr>
        <p:txBody>
          <a:bodyPr rtlCol="0" anchor="ctr" wrap="square" lIns="0" rIns="0" tIns="0" bIns="0">
            <a:noAutofit/>
          </a:bodyPr>
          <a:lstStyle/>
          <a:p>
            <a:pPr algn="ctr">
              <a:spcAft>
                <a:spcPts val="0"/>
              </a:spcAft>
            </a:pPr>
            <a:r>
              <a:rPr sz="1800" b="1" i="0">
                <a:solidFill>
                  <a:srgbClr val="FFFFFF"/>
                </a:solidFill>
                <a:latin typeface="Calibri"/>
              </a:rPr>
              <a:t>4</a:t>
            </a:r>
          </a:p>
        </p:txBody>
      </p:sp>
      <p:sp>
        <p:nvSpPr>
          <p:cNvPr id="14" name="TextBox 13"/>
          <p:cNvSpPr txBox="1"/>
          <p:nvPr/>
        </p:nvSpPr>
        <p:spPr>
          <a:xfrm>
            <a:off x="1280160" y="5038344"/>
            <a:ext cx="5394960" cy="1005840"/>
          </a:xfrm>
          <a:prstGeom prst="rect">
            <a:avLst/>
          </a:prstGeom>
          <a:noFill/>
        </p:spPr>
        <p:txBody>
          <a:bodyPr wrap="square" lIns="36576" rIns="36576" tIns="36576" bIns="36576" anchor="t">
            <a:noAutofit/>
          </a:bodyPr>
          <a:lstStyle/>
          <a:p>
            <a:pPr algn="l">
              <a:spcAft>
                <a:spcPts val="200"/>
              </a:spcAft>
            </a:pPr>
            <a:r>
              <a:rPr sz="1800" b="1" i="0">
                <a:solidFill>
                  <a:srgbClr val="FFFFFF"/>
                </a:solidFill>
                <a:latin typeface="Calibri"/>
              </a:rPr>
              <a:t>Prospective pilot</a:t>
            </a:r>
          </a:p>
          <a:p>
            <a:pPr algn="l">
              <a:spcAft>
                <a:spcPts val="400"/>
              </a:spcAft>
            </a:pPr>
            <a:r>
              <a:rPr sz="1500" b="0" i="0">
                <a:solidFill>
                  <a:srgbClr val="E2E8F0"/>
                </a:solidFill>
                <a:latin typeface="Calibri"/>
              </a:rPr>
              <a:t>Consented pilot with an Indian diabetes clinic; measure outreach and out-of-range time against usual care</a:t>
            </a:r>
          </a:p>
        </p:txBody>
      </p:sp>
      <p:sp>
        <p:nvSpPr>
          <p:cNvPr id="15" name="Rounded Rectangle 14"/>
          <p:cNvSpPr/>
          <p:nvPr/>
        </p:nvSpPr>
        <p:spPr>
          <a:xfrm>
            <a:off x="7132320" y="1691640"/>
            <a:ext cx="4526280" cy="4434840"/>
          </a:xfrm>
          <a:prstGeom prst="roundRect">
            <a:avLst>
              <a:gd name="adj" fmla="val 4000"/>
            </a:avLst>
          </a:prstGeom>
          <a:solidFill>
            <a:srgbClr val="1E293B"/>
          </a:solidFill>
          <a:ln>
            <a:noFill/>
          </a:ln>
          <a:effectLst/>
        </p:spPr>
        <p:txBody>
          <a:bodyPr rtlCol="0" anchor="t" wrap="square" lIns="228600" rIns="228600">
            <a:noAutofit/>
          </a:bodyPr>
          <a:lstStyle/>
          <a:p>
            <a:pPr algn="l">
              <a:spcAft>
                <a:spcPts val="1000"/>
              </a:spcAft>
            </a:pPr>
            <a:r>
              <a:rPr sz="2600" b="1" i="0">
                <a:solidFill>
                  <a:srgbClr val="FFFFFF"/>
                </a:solidFill>
                <a:latin typeface="Calibri"/>
              </a:rPr>
              <a:t>Thank you</a:t>
            </a:r>
          </a:p>
          <a:p>
            <a:pPr algn="l">
              <a:spcAft>
                <a:spcPts val="0"/>
              </a:spcAft>
            </a:pPr>
            <a:r>
              <a:rPr sz="1600" b="1" i="0">
                <a:solidFill>
                  <a:srgbClr val="99F6E4"/>
                </a:solidFill>
                <a:latin typeface="Calibri"/>
              </a:rPr>
              <a:t>Code and docs</a:t>
            </a:r>
          </a:p>
          <a:p>
            <a:pPr algn="l">
              <a:spcAft>
                <a:spcPts val="0"/>
              </a:spcAft>
            </a:pPr>
            <a:r>
              <a:rPr sz="1600" b="0" i="0">
                <a:solidFill>
                  <a:srgbClr val="E2E8F0"/>
                </a:solidFill>
                <a:latin typeface="Calibri"/>
              </a:rPr>
              <a:t>github.com/kumarshubhammorya/</a:t>
            </a:r>
          </a:p>
          <a:p>
            <a:pPr algn="l">
              <a:spcAft>
                <a:spcPts val="1000"/>
              </a:spcAft>
            </a:pPr>
            <a:r>
              <a:rPr sz="1600" b="0" i="0">
                <a:solidFill>
                  <a:srgbClr val="E2E8F0"/>
                </a:solidFill>
                <a:latin typeface="Calibri"/>
              </a:rPr>
              <a:t>glycotwin-digital-twin</a:t>
            </a:r>
          </a:p>
          <a:p>
            <a:pPr algn="l">
              <a:spcAft>
                <a:spcPts val="0"/>
              </a:spcAft>
            </a:pPr>
            <a:r>
              <a:rPr sz="1600" b="1" i="0">
                <a:solidFill>
                  <a:srgbClr val="99F6E4"/>
                </a:solidFill>
                <a:latin typeface="Calibri"/>
              </a:rPr>
              <a:t>Hosted page</a:t>
            </a:r>
          </a:p>
          <a:p>
            <a:pPr algn="l">
              <a:spcAft>
                <a:spcPts val="1000"/>
              </a:spcAft>
            </a:pPr>
            <a:r>
              <a:rPr sz="1600" b="0" i="0">
                <a:solidFill>
                  <a:srgbClr val="E2E8F0"/>
                </a:solidFill>
                <a:latin typeface="Calibri"/>
              </a:rPr>
              <a:t>glycotwin-app.web.app</a:t>
            </a:r>
          </a:p>
          <a:p>
            <a:pPr algn="l">
              <a:spcAft>
                <a:spcPts val="0"/>
              </a:spcAft>
            </a:pPr>
            <a:r>
              <a:rPr sz="1600" b="1" i="0">
                <a:solidFill>
                  <a:srgbClr val="99F6E4"/>
                </a:solidFill>
                <a:latin typeface="Calibri"/>
              </a:rPr>
              <a:t>Video walkthrough (20+ min)</a:t>
            </a:r>
          </a:p>
          <a:p>
            <a:pPr algn="l">
              <a:spcAft>
                <a:spcPts val="1000"/>
              </a:spcAft>
            </a:pPr>
            <a:r>
              <a:rPr sz="1600" b="0" i="0">
                <a:solidFill>
                  <a:srgbClr val="E2E8F0"/>
                </a:solidFill>
                <a:latin typeface="Calibri"/>
              </a:rPr>
              <a:t>linked in README.md, section 5</a:t>
            </a:r>
          </a:p>
          <a:p>
            <a:pPr algn="l">
              <a:spcAft>
                <a:spcPts val="200"/>
              </a:spcAft>
            </a:pPr>
            <a:r>
              <a:rPr sz="1400" b="0" i="0">
                <a:solidFill>
                  <a:srgbClr val="94A3B8"/>
                </a:solidFill>
                <a:latin typeface="Calibri"/>
              </a:rPr>
              <a:t>Team Classy Leopards · Goa Institute of Management, Sanquelim, Goa</a:t>
            </a:r>
          </a:p>
          <a:p>
            <a:pPr algn="l">
              <a:spcAft>
                <a:spcPts val="400"/>
              </a:spcAft>
            </a:pPr>
            <a:r>
              <a:rPr sz="1400" b="0" i="0">
                <a:solidFill>
                  <a:srgbClr val="94A3B8"/>
                </a:solidFill>
                <a:latin typeface="Calibri"/>
              </a:rPr>
              <a:t>Shivam Raj · Shubham Kumar · Shiva Kumar Bachatty · Yashita Dube</a:t>
            </a:r>
          </a:p>
        </p:txBody>
      </p:sp>
      <p:sp>
        <p:nvSpPr>
          <p:cNvPr id="16" name="Footer"/>
          <p:cNvSpPr txBox="1"/>
          <p:nvPr/>
        </p:nvSpPr>
        <p:spPr>
          <a:xfrm>
            <a:off x="548640" y="6437376"/>
            <a:ext cx="10241280" cy="310896"/>
          </a:xfrm>
          <a:prstGeom prst="rect">
            <a:avLst/>
          </a:prstGeom>
          <a:noFill/>
        </p:spPr>
        <p:txBody>
          <a:bodyPr wrap="square" lIns="36576" rIns="36576" tIns="36576" bIns="36576" anchor="t">
            <a:noAutofit/>
          </a:bodyPr>
          <a:lstStyle/>
          <a:p>
            <a:pPr algn="l">
              <a:spcAft>
                <a:spcPts val="400"/>
              </a:spcAft>
            </a:pPr>
            <a:r>
              <a:rPr sz="1100" b="0" i="0">
                <a:solidFill>
                  <a:srgbClr val="94A3B8"/>
                </a:solidFill>
                <a:latin typeface="Calibri"/>
              </a:rPr>
              <a:t>Synthetic data only · research prototype, not a medical device · not for dosing decisions</a:t>
            </a:r>
          </a:p>
        </p:txBody>
      </p:sp>
      <p:sp>
        <p:nvSpPr>
          <p:cNvPr id="17" name="Slide number"/>
          <p:cNvSpPr txBox="1"/>
          <p:nvPr/>
        </p:nvSpPr>
        <p:spPr>
          <a:xfrm>
            <a:off x="10881360" y="6437376"/>
            <a:ext cx="758952" cy="310896"/>
          </a:xfrm>
          <a:prstGeom prst="rect">
            <a:avLst/>
          </a:prstGeom>
          <a:noFill/>
        </p:spPr>
        <p:txBody>
          <a:bodyPr wrap="square" lIns="36576" rIns="36576" tIns="36576" bIns="36576" anchor="t">
            <a:noAutofit/>
          </a:bodyPr>
          <a:lstStyle/>
          <a:p>
            <a:pPr algn="r">
              <a:spcAft>
                <a:spcPts val="400"/>
              </a:spcAft>
            </a:pPr>
            <a:r>
              <a:rPr sz="1100" b="0" i="0">
                <a:solidFill>
                  <a:srgbClr val="94A3B8"/>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